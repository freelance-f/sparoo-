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pic>
        <p:nvPicPr>
          <p:cNvPr id="2" name="Picture 1" descr="sparoo_wordmark.png"/>
          <p:cNvPicPr>
            <a:picLocks noChangeAspect="1"/>
          </p:cNvPicPr>
          <p:nvPr/>
        </p:nvPicPr>
        <p:blipFill>
          <a:blip r:embed="rId2"/>
          <a:stretch>
            <a:fillRect/>
          </a:stretch>
        </p:blipFill>
        <p:spPr>
          <a:xfrm>
            <a:off x="3749039" y="1828800"/>
            <a:ext cx="4754880" cy="5945051"/>
          </a:xfrm>
          <a:prstGeom prst="rect">
            <a:avLst/>
          </a:prstGeom>
        </p:spPr>
      </p:pic>
      <p:sp>
        <p:nvSpPr>
          <p:cNvPr id="3" name="TextBox 2"/>
          <p:cNvSpPr txBox="1"/>
          <p:nvPr/>
        </p:nvSpPr>
        <p:spPr>
          <a:xfrm>
            <a:off x="2194560" y="2926080"/>
            <a:ext cx="7863840" cy="365760"/>
          </a:xfrm>
          <a:prstGeom prst="rect">
            <a:avLst/>
          </a:prstGeom>
          <a:noFill/>
        </p:spPr>
        <p:txBody>
          <a:bodyPr wrap="square" anchor="t">
            <a:spAutoFit/>
          </a:bodyPr>
          <a:lstStyle/>
          <a:p>
            <a:pPr algn="ctr"/>
            <a:r>
              <a:rPr sz="1800" b="0">
                <a:solidFill>
                  <a:srgbClr val="F0EDE8"/>
                </a:solidFill>
                <a:latin typeface="Aptos"/>
              </a:rPr>
              <a:t>Smart Proximity Automatic Recognizing Operator</a:t>
            </a:r>
          </a:p>
        </p:txBody>
      </p:sp>
      <p:sp>
        <p:nvSpPr>
          <p:cNvPr id="4" name="TextBox 3"/>
          <p:cNvSpPr txBox="1"/>
          <p:nvPr/>
        </p:nvSpPr>
        <p:spPr>
          <a:xfrm>
            <a:off x="1920240" y="3429000"/>
            <a:ext cx="8412480" cy="548640"/>
          </a:xfrm>
          <a:prstGeom prst="rect">
            <a:avLst/>
          </a:prstGeom>
          <a:noFill/>
        </p:spPr>
        <p:txBody>
          <a:bodyPr wrap="square" anchor="t">
            <a:spAutoFit/>
          </a:bodyPr>
          <a:lstStyle/>
          <a:p>
            <a:pPr algn="ctr"/>
            <a:r>
              <a:rPr sz="2200" b="1">
                <a:solidFill>
                  <a:srgbClr val="39D353"/>
                </a:solidFill>
                <a:latin typeface="Aptos"/>
              </a:rPr>
              <a:t>"Just arrive. SPAROO handles the rest."</a:t>
            </a:r>
          </a:p>
        </p:txBody>
      </p:sp>
      <p:sp>
        <p:nvSpPr>
          <p:cNvPr id="5" name="TextBox 4"/>
          <p:cNvSpPr txBox="1"/>
          <p:nvPr/>
        </p:nvSpPr>
        <p:spPr>
          <a:xfrm>
            <a:off x="640080" y="6263640"/>
            <a:ext cx="10972800" cy="457200"/>
          </a:xfrm>
          <a:prstGeom prst="rect">
            <a:avLst/>
          </a:prstGeom>
          <a:noFill/>
        </p:spPr>
        <p:txBody>
          <a:bodyPr wrap="square" anchor="t">
            <a:spAutoFit/>
          </a:bodyPr>
          <a:lstStyle/>
          <a:p>
            <a:pPr algn="l"/>
            <a:r>
              <a:rPr sz="1400" b="0">
                <a:solidFill>
                  <a:srgbClr val="AAAAAA"/>
                </a:solidFill>
                <a:latin typeface="Aptos"/>
              </a:rPr>
              <a:t>Nithin Reddy Jeeru | Founder    •    ANITS, Visakhapatnam |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pic>
        <p:nvPicPr>
          <p:cNvPr id="2" name="Picture 1" descr="sparoo_mark.png"/>
          <p:cNvPicPr>
            <a:picLocks noChangeAspect="1"/>
          </p:cNvPicPr>
          <p:nvPr/>
        </p:nvPicPr>
        <p:blipFill>
          <a:blip r:embed="rId2"/>
          <a:stretch>
            <a:fillRect/>
          </a:stretch>
        </p:blipFill>
        <p:spPr>
          <a:xfrm>
            <a:off x="411480" y="256032"/>
            <a:ext cx="307163" cy="384048"/>
          </a:xfrm>
          <a:prstGeom prst="rect">
            <a:avLst/>
          </a:prstGeom>
        </p:spPr>
      </p:pic>
      <p:sp>
        <p:nvSpPr>
          <p:cNvPr id="3" name="TextBox 2"/>
          <p:cNvSpPr txBox="1"/>
          <p:nvPr/>
        </p:nvSpPr>
        <p:spPr>
          <a:xfrm>
            <a:off x="11795760" y="6446520"/>
            <a:ext cx="548640" cy="274320"/>
          </a:xfrm>
          <a:prstGeom prst="rect">
            <a:avLst/>
          </a:prstGeom>
          <a:noFill/>
        </p:spPr>
        <p:txBody>
          <a:bodyPr wrap="square" anchor="t">
            <a:spAutoFit/>
          </a:bodyPr>
          <a:lstStyle/>
          <a:p>
            <a:pPr algn="r"/>
            <a:r>
              <a:rPr sz="1200" b="1">
                <a:solidFill>
                  <a:srgbClr val="AAAAAA"/>
                </a:solidFill>
                <a:latin typeface="Aptos"/>
              </a:rPr>
              <a:t>02</a:t>
            </a:r>
          </a:p>
        </p:txBody>
      </p:sp>
      <p:sp>
        <p:nvSpPr>
          <p:cNvPr id="4" name="TextBox 3"/>
          <p:cNvSpPr txBox="1"/>
          <p:nvPr/>
        </p:nvSpPr>
        <p:spPr>
          <a:xfrm>
            <a:off x="640080" y="822960"/>
            <a:ext cx="11521440" cy="822960"/>
          </a:xfrm>
          <a:prstGeom prst="rect">
            <a:avLst/>
          </a:prstGeom>
          <a:noFill/>
        </p:spPr>
        <p:txBody>
          <a:bodyPr wrap="square" anchor="t">
            <a:spAutoFit/>
          </a:bodyPr>
          <a:lstStyle/>
          <a:p>
            <a:pPr algn="l"/>
            <a:r>
              <a:rPr sz="4400" b="1">
                <a:solidFill>
                  <a:srgbClr val="F0EDE8"/>
                </a:solidFill>
                <a:latin typeface="Aptos"/>
              </a:rPr>
              <a:t>India’s UPI payment process
is broken at the last meter.</a:t>
            </a:r>
          </a:p>
        </p:txBody>
      </p:sp>
      <p:sp>
        <p:nvSpPr>
          <p:cNvPr id="5" name="Rounded Rectangle 4"/>
          <p:cNvSpPr/>
          <p:nvPr/>
        </p:nvSpPr>
        <p:spPr>
          <a:xfrm>
            <a:off x="640080" y="2148840"/>
            <a:ext cx="5943600" cy="1874519"/>
          </a:xfrm>
          <a:prstGeom prst="roundRect">
            <a:avLst/>
          </a:prstGeom>
          <a:solidFill>
            <a:srgbClr val="111111"/>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331720"/>
            <a:ext cx="5394960" cy="1463040"/>
          </a:xfrm>
          <a:prstGeom prst="rect">
            <a:avLst/>
          </a:prstGeom>
          <a:noFill/>
        </p:spPr>
        <p:txBody>
          <a:bodyPr wrap="square" anchor="t">
            <a:spAutoFit/>
          </a:bodyPr>
          <a:lstStyle/>
          <a:p>
            <a:pPr algn="l"/>
            <a:r>
              <a:rPr sz="1600" b="0">
                <a:solidFill>
                  <a:srgbClr val="F0EDE8"/>
                </a:solidFill>
                <a:latin typeface="Aptos"/>
              </a:rPr>
              <a:t>It is 9 PM. Auto ride ends.
Driver says — UPI kar do bhai.
QR code is faded.
UPI ID mistyped twice.
2 minutes wasted.
Every. Single. Ride.</a:t>
            </a:r>
          </a:p>
        </p:txBody>
      </p:sp>
      <p:sp>
        <p:nvSpPr>
          <p:cNvPr id="7" name="TextBox 6"/>
          <p:cNvSpPr txBox="1"/>
          <p:nvPr/>
        </p:nvSpPr>
        <p:spPr>
          <a:xfrm>
            <a:off x="7315200" y="2194560"/>
            <a:ext cx="3657600" cy="731520"/>
          </a:xfrm>
          <a:prstGeom prst="rect">
            <a:avLst/>
          </a:prstGeom>
          <a:noFill/>
        </p:spPr>
        <p:txBody>
          <a:bodyPr wrap="square" anchor="t">
            <a:spAutoFit/>
          </a:bodyPr>
          <a:lstStyle/>
          <a:p>
            <a:pPr algn="l"/>
            <a:r>
              <a:rPr sz="6400" b="1">
                <a:solidFill>
                  <a:srgbClr val="F0EDE8"/>
                </a:solidFill>
                <a:latin typeface="Aptos"/>
              </a:rPr>
              <a:t>640M+</a:t>
            </a:r>
          </a:p>
        </p:txBody>
      </p:sp>
      <p:sp>
        <p:nvSpPr>
          <p:cNvPr id="8" name="TextBox 7"/>
          <p:cNvSpPr txBox="1"/>
          <p:nvPr/>
        </p:nvSpPr>
        <p:spPr>
          <a:xfrm>
            <a:off x="7315200" y="2926080"/>
            <a:ext cx="3657600" cy="457200"/>
          </a:xfrm>
          <a:prstGeom prst="rect">
            <a:avLst/>
          </a:prstGeom>
          <a:noFill/>
        </p:spPr>
        <p:txBody>
          <a:bodyPr wrap="square" anchor="t">
            <a:spAutoFit/>
          </a:bodyPr>
          <a:lstStyle/>
          <a:p>
            <a:pPr algn="l"/>
            <a:r>
              <a:rPr sz="1600" b="0">
                <a:solidFill>
                  <a:srgbClr val="C8C8C8"/>
                </a:solidFill>
                <a:latin typeface="Aptos"/>
              </a:rPr>
              <a:t>UPI transactions / day</a:t>
            </a:r>
          </a:p>
        </p:txBody>
      </p:sp>
      <p:sp>
        <p:nvSpPr>
          <p:cNvPr id="9" name="TextBox 8"/>
          <p:cNvSpPr txBox="1"/>
          <p:nvPr/>
        </p:nvSpPr>
        <p:spPr>
          <a:xfrm>
            <a:off x="7315200" y="3520440"/>
            <a:ext cx="3657600" cy="731520"/>
          </a:xfrm>
          <a:prstGeom prst="rect">
            <a:avLst/>
          </a:prstGeom>
          <a:noFill/>
        </p:spPr>
        <p:txBody>
          <a:bodyPr wrap="square" anchor="t">
            <a:spAutoFit/>
          </a:bodyPr>
          <a:lstStyle/>
          <a:p>
            <a:pPr algn="l"/>
            <a:r>
              <a:rPr sz="6400" b="1">
                <a:solidFill>
                  <a:srgbClr val="F0EDE8"/>
                </a:solidFill>
                <a:latin typeface="Aptos"/>
              </a:rPr>
              <a:t>6Cr+</a:t>
            </a:r>
          </a:p>
        </p:txBody>
      </p:sp>
      <p:sp>
        <p:nvSpPr>
          <p:cNvPr id="10" name="TextBox 9"/>
          <p:cNvSpPr txBox="1"/>
          <p:nvPr/>
        </p:nvSpPr>
        <p:spPr>
          <a:xfrm>
            <a:off x="7315200" y="4251960"/>
            <a:ext cx="3657600" cy="457200"/>
          </a:xfrm>
          <a:prstGeom prst="rect">
            <a:avLst/>
          </a:prstGeom>
          <a:noFill/>
        </p:spPr>
        <p:txBody>
          <a:bodyPr wrap="square" anchor="t">
            <a:spAutoFit/>
          </a:bodyPr>
          <a:lstStyle/>
          <a:p>
            <a:pPr algn="l"/>
            <a:r>
              <a:rPr sz="1600" b="0">
                <a:solidFill>
                  <a:srgbClr val="C8C8C8"/>
                </a:solidFill>
                <a:latin typeface="Aptos"/>
              </a:rPr>
              <a:t>MSMEs (mostly micro)</a:t>
            </a:r>
          </a:p>
        </p:txBody>
      </p:sp>
      <p:sp>
        <p:nvSpPr>
          <p:cNvPr id="11" name="TextBox 10"/>
          <p:cNvSpPr txBox="1"/>
          <p:nvPr/>
        </p:nvSpPr>
        <p:spPr>
          <a:xfrm>
            <a:off x="7315200" y="4846320"/>
            <a:ext cx="3657600" cy="731520"/>
          </a:xfrm>
          <a:prstGeom prst="rect">
            <a:avLst/>
          </a:prstGeom>
          <a:noFill/>
        </p:spPr>
        <p:txBody>
          <a:bodyPr wrap="square" anchor="t">
            <a:spAutoFit/>
          </a:bodyPr>
          <a:lstStyle/>
          <a:p>
            <a:pPr algn="l"/>
            <a:r>
              <a:rPr sz="6400" b="1">
                <a:solidFill>
                  <a:srgbClr val="F0EDE8"/>
                </a:solidFill>
                <a:latin typeface="Aptos"/>
              </a:rPr>
              <a:t>≈3 min</a:t>
            </a:r>
          </a:p>
        </p:txBody>
      </p:sp>
      <p:sp>
        <p:nvSpPr>
          <p:cNvPr id="12" name="TextBox 11"/>
          <p:cNvSpPr txBox="1"/>
          <p:nvPr/>
        </p:nvSpPr>
        <p:spPr>
          <a:xfrm>
            <a:off x="7315200" y="5577840"/>
            <a:ext cx="3657600" cy="457200"/>
          </a:xfrm>
          <a:prstGeom prst="rect">
            <a:avLst/>
          </a:prstGeom>
          <a:noFill/>
        </p:spPr>
        <p:txBody>
          <a:bodyPr wrap="square" anchor="t">
            <a:spAutoFit/>
          </a:bodyPr>
          <a:lstStyle/>
          <a:p>
            <a:pPr algn="l"/>
            <a:r>
              <a:rPr sz="1600" b="0">
                <a:solidFill>
                  <a:srgbClr val="C8C8C8"/>
                </a:solidFill>
                <a:latin typeface="Aptos"/>
              </a:rPr>
              <a:t>avg payment friction (field observation)</a:t>
            </a:r>
          </a:p>
        </p:txBody>
      </p:sp>
      <p:sp>
        <p:nvSpPr>
          <p:cNvPr id="13" name="TextBox 12"/>
          <p:cNvSpPr txBox="1"/>
          <p:nvPr/>
        </p:nvSpPr>
        <p:spPr>
          <a:xfrm>
            <a:off x="640080" y="6400800"/>
            <a:ext cx="10972800" cy="411480"/>
          </a:xfrm>
          <a:prstGeom prst="rect">
            <a:avLst/>
          </a:prstGeom>
          <a:noFill/>
        </p:spPr>
        <p:txBody>
          <a:bodyPr wrap="square" anchor="t">
            <a:spAutoFit/>
          </a:bodyPr>
          <a:lstStyle/>
          <a:p>
            <a:pPr algn="l"/>
            <a:r>
              <a:rPr sz="1400" b="1">
                <a:solidFill>
                  <a:srgbClr val="39D353"/>
                </a:solidFill>
                <a:latin typeface="Aptos"/>
              </a:rPr>
              <a:t>The payment technology works. The discovery problem is unsolved.</a:t>
            </a:r>
          </a:p>
        </p:txBody>
      </p:sp>
      <p:sp>
        <p:nvSpPr>
          <p:cNvPr id="14" name="TextBox 13"/>
          <p:cNvSpPr txBox="1"/>
          <p:nvPr/>
        </p:nvSpPr>
        <p:spPr>
          <a:xfrm>
            <a:off x="640080" y="6080760"/>
            <a:ext cx="9601200" cy="320040"/>
          </a:xfrm>
          <a:prstGeom prst="rect">
            <a:avLst/>
          </a:prstGeom>
          <a:noFill/>
        </p:spPr>
        <p:txBody>
          <a:bodyPr wrap="square" anchor="t">
            <a:spAutoFit/>
          </a:bodyPr>
          <a:lstStyle/>
          <a:p>
            <a:pPr algn="l"/>
            <a:r>
              <a:rPr sz="1000" b="0">
                <a:solidFill>
                  <a:srgbClr val="999999"/>
                </a:solidFill>
                <a:latin typeface="Aptos"/>
              </a:rPr>
              <a:t>Sources: PIB (UPI &gt;640M/day), Economic Survey 2025–26 (UPI stats), Ministry of MSME/Udyam (enterprise count).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pic>
        <p:nvPicPr>
          <p:cNvPr id="2" name="Picture 1" descr="sparoo_mark.png"/>
          <p:cNvPicPr>
            <a:picLocks noChangeAspect="1"/>
          </p:cNvPicPr>
          <p:nvPr/>
        </p:nvPicPr>
        <p:blipFill>
          <a:blip r:embed="rId2"/>
          <a:stretch>
            <a:fillRect/>
          </a:stretch>
        </p:blipFill>
        <p:spPr>
          <a:xfrm>
            <a:off x="411480" y="256032"/>
            <a:ext cx="307163" cy="384048"/>
          </a:xfrm>
          <a:prstGeom prst="rect">
            <a:avLst/>
          </a:prstGeom>
        </p:spPr>
      </p:pic>
      <p:sp>
        <p:nvSpPr>
          <p:cNvPr id="3" name="TextBox 2"/>
          <p:cNvSpPr txBox="1"/>
          <p:nvPr/>
        </p:nvSpPr>
        <p:spPr>
          <a:xfrm>
            <a:off x="11795760" y="6446520"/>
            <a:ext cx="548640" cy="274320"/>
          </a:xfrm>
          <a:prstGeom prst="rect">
            <a:avLst/>
          </a:prstGeom>
          <a:noFill/>
        </p:spPr>
        <p:txBody>
          <a:bodyPr wrap="square" anchor="t">
            <a:spAutoFit/>
          </a:bodyPr>
          <a:lstStyle/>
          <a:p>
            <a:pPr algn="r"/>
            <a:r>
              <a:rPr sz="1200" b="1">
                <a:solidFill>
                  <a:srgbClr val="AAAAAA"/>
                </a:solidFill>
                <a:latin typeface="Aptos"/>
              </a:rPr>
              <a:t>03</a:t>
            </a:r>
          </a:p>
        </p:txBody>
      </p:sp>
      <p:sp>
        <p:nvSpPr>
          <p:cNvPr id="4" name="TextBox 3"/>
          <p:cNvSpPr txBox="1"/>
          <p:nvPr/>
        </p:nvSpPr>
        <p:spPr>
          <a:xfrm>
            <a:off x="640080" y="822960"/>
            <a:ext cx="11521440" cy="822960"/>
          </a:xfrm>
          <a:prstGeom prst="rect">
            <a:avLst/>
          </a:prstGeom>
          <a:noFill/>
        </p:spPr>
        <p:txBody>
          <a:bodyPr wrap="square" anchor="t">
            <a:spAutoFit/>
          </a:bodyPr>
          <a:lstStyle/>
          <a:p>
            <a:pPr algn="l"/>
            <a:r>
              <a:rPr sz="4400" b="1">
                <a:solidFill>
                  <a:srgbClr val="F0EDE8"/>
                </a:solidFill>
                <a:latin typeface="Aptos"/>
              </a:rPr>
              <a:t>SPAROO eliminates the discovery problem.</a:t>
            </a:r>
          </a:p>
        </p:txBody>
      </p:sp>
      <p:sp>
        <p:nvSpPr>
          <p:cNvPr id="5" name="TextBox 4"/>
          <p:cNvSpPr txBox="1"/>
          <p:nvPr/>
        </p:nvSpPr>
        <p:spPr>
          <a:xfrm>
            <a:off x="640080" y="1965960"/>
            <a:ext cx="6400800" cy="3108960"/>
          </a:xfrm>
          <a:prstGeom prst="rect">
            <a:avLst/>
          </a:prstGeom>
          <a:noFill/>
        </p:spPr>
        <p:txBody>
          <a:bodyPr wrap="square" anchor="t">
            <a:spAutoFit/>
          </a:bodyPr>
          <a:lstStyle/>
          <a:p>
            <a:pPr algn="l"/>
            <a:r>
              <a:rPr sz="1800" b="0">
                <a:solidFill>
                  <a:srgbClr val="F0EDE8"/>
                </a:solidFill>
                <a:latin typeface="Aptos"/>
              </a:rPr>
              <a:t>A small device sits inside the auto.
When you come near — your phone
automatically shows the driver’s details.
Name. Photo. UPI ID. Verified.
You enter the amount. Tap pay.
Done. Under 10 seconds.
No QR scanning.
No typing UPI IDs.
No asking.
Telugu voice confirmation:
వంద రూపాయలు క్రెడిట్ అయింది.</a:t>
            </a:r>
          </a:p>
        </p:txBody>
      </p:sp>
      <p:sp>
        <p:nvSpPr>
          <p:cNvPr id="6" name="TextBox 5"/>
          <p:cNvSpPr txBox="1"/>
          <p:nvPr/>
        </p:nvSpPr>
        <p:spPr>
          <a:xfrm>
            <a:off x="7406640" y="1965960"/>
            <a:ext cx="4389120" cy="457200"/>
          </a:xfrm>
          <a:prstGeom prst="rect">
            <a:avLst/>
          </a:prstGeom>
          <a:noFill/>
        </p:spPr>
        <p:txBody>
          <a:bodyPr wrap="square" anchor="t">
            <a:spAutoFit/>
          </a:bodyPr>
          <a:lstStyle/>
          <a:p>
            <a:pPr algn="l"/>
            <a:r>
              <a:rPr sz="1600" b="1">
                <a:solidFill>
                  <a:srgbClr val="E8F55A"/>
                </a:solidFill>
                <a:latin typeface="Aptos"/>
              </a:rPr>
              <a:t>Simple 4-step</a:t>
            </a:r>
          </a:p>
        </p:txBody>
      </p:sp>
      <p:sp>
        <p:nvSpPr>
          <p:cNvPr id="7" name="Chevron 6"/>
          <p:cNvSpPr/>
          <p:nvPr/>
        </p:nvSpPr>
        <p:spPr>
          <a:xfrm>
            <a:off x="7406640" y="2560320"/>
            <a:ext cx="4389120" cy="594360"/>
          </a:xfrm>
          <a:prstGeom prst="chevron">
            <a:avLst/>
          </a:prstGeom>
          <a:solidFill>
            <a:srgbClr val="111111"/>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0EDE8"/>
                </a:solidFill>
                <a:latin typeface="Aptos"/>
              </a:rPr>
              <a:t>Device broadcasts</a:t>
            </a:r>
          </a:p>
        </p:txBody>
      </p:sp>
      <p:sp>
        <p:nvSpPr>
          <p:cNvPr id="8" name="Chevron 7"/>
          <p:cNvSpPr/>
          <p:nvPr/>
        </p:nvSpPr>
        <p:spPr>
          <a:xfrm>
            <a:off x="7406640" y="3291840"/>
            <a:ext cx="4389120" cy="594360"/>
          </a:xfrm>
          <a:prstGeom prst="chevron">
            <a:avLst/>
          </a:prstGeom>
          <a:solidFill>
            <a:srgbClr val="111111"/>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0EDE8"/>
                </a:solidFill>
                <a:latin typeface="Aptos"/>
              </a:rPr>
              <a:t>Phone detects</a:t>
            </a:r>
          </a:p>
        </p:txBody>
      </p:sp>
      <p:sp>
        <p:nvSpPr>
          <p:cNvPr id="9" name="Chevron 8"/>
          <p:cNvSpPr/>
          <p:nvPr/>
        </p:nvSpPr>
        <p:spPr>
          <a:xfrm>
            <a:off x="7406640" y="4023360"/>
            <a:ext cx="4389120" cy="594360"/>
          </a:xfrm>
          <a:prstGeom prst="chevron">
            <a:avLst/>
          </a:prstGeom>
          <a:solidFill>
            <a:srgbClr val="111111"/>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0EDE8"/>
                </a:solidFill>
                <a:latin typeface="Aptos"/>
              </a:rPr>
              <a:t>Details appear</a:t>
            </a:r>
          </a:p>
        </p:txBody>
      </p:sp>
      <p:sp>
        <p:nvSpPr>
          <p:cNvPr id="10" name="Chevron 9"/>
          <p:cNvSpPr/>
          <p:nvPr/>
        </p:nvSpPr>
        <p:spPr>
          <a:xfrm>
            <a:off x="7406640" y="4754880"/>
            <a:ext cx="4389120" cy="594360"/>
          </a:xfrm>
          <a:prstGeom prst="chevron">
            <a:avLst/>
          </a:prstGeom>
          <a:solidFill>
            <a:srgbClr val="111111"/>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0EDE8"/>
                </a:solidFill>
                <a:latin typeface="Aptos"/>
              </a:rPr>
              <a:t>Pay done</a:t>
            </a:r>
          </a:p>
        </p:txBody>
      </p:sp>
      <p:sp>
        <p:nvSpPr>
          <p:cNvPr id="11" name="TextBox 10"/>
          <p:cNvSpPr txBox="1"/>
          <p:nvPr/>
        </p:nvSpPr>
        <p:spPr>
          <a:xfrm>
            <a:off x="640080" y="6400800"/>
            <a:ext cx="10972800" cy="411480"/>
          </a:xfrm>
          <a:prstGeom prst="rect">
            <a:avLst/>
          </a:prstGeom>
          <a:noFill/>
        </p:spPr>
        <p:txBody>
          <a:bodyPr wrap="square" anchor="t">
            <a:spAutoFit/>
          </a:bodyPr>
          <a:lstStyle/>
          <a:p>
            <a:pPr algn="l"/>
            <a:r>
              <a:rPr sz="1400" b="1">
                <a:solidFill>
                  <a:srgbClr val="39D353"/>
                </a:solidFill>
                <a:latin typeface="Aptos"/>
              </a:rPr>
              <a:t>From 2–3 minutes to under 10 seconds — without changing how UPI works.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pic>
        <p:nvPicPr>
          <p:cNvPr id="2" name="Picture 1" descr="sparoo_mark.png"/>
          <p:cNvPicPr>
            <a:picLocks noChangeAspect="1"/>
          </p:cNvPicPr>
          <p:nvPr/>
        </p:nvPicPr>
        <p:blipFill>
          <a:blip r:embed="rId2"/>
          <a:stretch>
            <a:fillRect/>
          </a:stretch>
        </p:blipFill>
        <p:spPr>
          <a:xfrm>
            <a:off x="411480" y="256032"/>
            <a:ext cx="307163" cy="384048"/>
          </a:xfrm>
          <a:prstGeom prst="rect">
            <a:avLst/>
          </a:prstGeom>
        </p:spPr>
      </p:pic>
      <p:sp>
        <p:nvSpPr>
          <p:cNvPr id="3" name="TextBox 2"/>
          <p:cNvSpPr txBox="1"/>
          <p:nvPr/>
        </p:nvSpPr>
        <p:spPr>
          <a:xfrm>
            <a:off x="11795760" y="6446520"/>
            <a:ext cx="548640" cy="274320"/>
          </a:xfrm>
          <a:prstGeom prst="rect">
            <a:avLst/>
          </a:prstGeom>
          <a:noFill/>
        </p:spPr>
        <p:txBody>
          <a:bodyPr wrap="square" anchor="t">
            <a:spAutoFit/>
          </a:bodyPr>
          <a:lstStyle/>
          <a:p>
            <a:pPr algn="r"/>
            <a:r>
              <a:rPr sz="1200" b="1">
                <a:solidFill>
                  <a:srgbClr val="AAAAAA"/>
                </a:solidFill>
                <a:latin typeface="Aptos"/>
              </a:rPr>
              <a:t>04</a:t>
            </a:r>
          </a:p>
        </p:txBody>
      </p:sp>
      <p:sp>
        <p:nvSpPr>
          <p:cNvPr id="4" name="TextBox 3"/>
          <p:cNvSpPr txBox="1"/>
          <p:nvPr/>
        </p:nvSpPr>
        <p:spPr>
          <a:xfrm>
            <a:off x="640080" y="822960"/>
            <a:ext cx="11521440" cy="822960"/>
          </a:xfrm>
          <a:prstGeom prst="rect">
            <a:avLst/>
          </a:prstGeom>
          <a:noFill/>
        </p:spPr>
        <p:txBody>
          <a:bodyPr wrap="square" anchor="t">
            <a:spAutoFit/>
          </a:bodyPr>
          <a:lstStyle/>
          <a:p>
            <a:pPr algn="l"/>
            <a:r>
              <a:rPr sz="4400" b="1">
                <a:solidFill>
                  <a:srgbClr val="F0EDE8"/>
                </a:solidFill>
                <a:latin typeface="Aptos"/>
              </a:rPr>
              <a:t>SPAROO is a never-before solution
for India’s informal economy.</a:t>
            </a:r>
          </a:p>
        </p:txBody>
      </p:sp>
      <p:sp>
        <p:nvSpPr>
          <p:cNvPr id="5" name="Rounded Rectangle 4"/>
          <p:cNvSpPr/>
          <p:nvPr/>
        </p:nvSpPr>
        <p:spPr>
          <a:xfrm>
            <a:off x="640080" y="2286000"/>
            <a:ext cx="3383280" cy="2743200"/>
          </a:xfrm>
          <a:prstGeom prst="roundRect">
            <a:avLst/>
          </a:prstGeom>
          <a:solidFill>
            <a:srgbClr val="111111"/>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514600"/>
            <a:ext cx="2788920" cy="502920"/>
          </a:xfrm>
          <a:prstGeom prst="rect">
            <a:avLst/>
          </a:prstGeom>
          <a:noFill/>
        </p:spPr>
        <p:txBody>
          <a:bodyPr wrap="square" anchor="t">
            <a:spAutoFit/>
          </a:bodyPr>
          <a:lstStyle/>
          <a:p>
            <a:pPr algn="l"/>
            <a:r>
              <a:rPr sz="1600" b="1">
                <a:solidFill>
                  <a:srgbClr val="39D353"/>
                </a:solidFill>
                <a:latin typeface="Aptos"/>
              </a:rPr>
              <a:t>USP 1 — Auto Detection</a:t>
            </a:r>
          </a:p>
        </p:txBody>
      </p:sp>
      <p:sp>
        <p:nvSpPr>
          <p:cNvPr id="7" name="TextBox 6"/>
          <p:cNvSpPr txBox="1"/>
          <p:nvPr/>
        </p:nvSpPr>
        <p:spPr>
          <a:xfrm>
            <a:off x="960120" y="3063240"/>
            <a:ext cx="2788920" cy="1828800"/>
          </a:xfrm>
          <a:prstGeom prst="rect">
            <a:avLst/>
          </a:prstGeom>
          <a:noFill/>
        </p:spPr>
        <p:txBody>
          <a:bodyPr wrap="square" anchor="t">
            <a:spAutoFit/>
          </a:bodyPr>
          <a:lstStyle/>
          <a:p>
            <a:pPr algn="l"/>
            <a:r>
              <a:rPr sz="1600" b="0">
                <a:solidFill>
                  <a:srgbClr val="F0EDE8"/>
                </a:solidFill>
                <a:latin typeface="Aptos"/>
              </a:rPr>
              <a:t>No other payment solution
automatically detects the merchant.
Zero user action required.</a:t>
            </a:r>
          </a:p>
        </p:txBody>
      </p:sp>
      <p:sp>
        <p:nvSpPr>
          <p:cNvPr id="8" name="Rounded Rectangle 7"/>
          <p:cNvSpPr/>
          <p:nvPr/>
        </p:nvSpPr>
        <p:spPr>
          <a:xfrm>
            <a:off x="4297680" y="2286000"/>
            <a:ext cx="3383280" cy="2743200"/>
          </a:xfrm>
          <a:prstGeom prst="roundRect">
            <a:avLst/>
          </a:prstGeom>
          <a:solidFill>
            <a:srgbClr val="111111"/>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2514600"/>
            <a:ext cx="2788920" cy="502920"/>
          </a:xfrm>
          <a:prstGeom prst="rect">
            <a:avLst/>
          </a:prstGeom>
          <a:noFill/>
        </p:spPr>
        <p:txBody>
          <a:bodyPr wrap="square" anchor="t">
            <a:spAutoFit/>
          </a:bodyPr>
          <a:lstStyle/>
          <a:p>
            <a:pPr algn="l"/>
            <a:r>
              <a:rPr sz="1600" b="1">
                <a:solidFill>
                  <a:srgbClr val="39D353"/>
                </a:solidFill>
                <a:latin typeface="Aptos"/>
              </a:rPr>
              <a:t>USP 2 — Telugu Voice</a:t>
            </a:r>
          </a:p>
        </p:txBody>
      </p:sp>
      <p:sp>
        <p:nvSpPr>
          <p:cNvPr id="10" name="TextBox 9"/>
          <p:cNvSpPr txBox="1"/>
          <p:nvPr/>
        </p:nvSpPr>
        <p:spPr>
          <a:xfrm>
            <a:off x="4617720" y="3063240"/>
            <a:ext cx="2788920" cy="1828800"/>
          </a:xfrm>
          <a:prstGeom prst="rect">
            <a:avLst/>
          </a:prstGeom>
          <a:noFill/>
        </p:spPr>
        <p:txBody>
          <a:bodyPr wrap="square" anchor="t">
            <a:spAutoFit/>
          </a:bodyPr>
          <a:lstStyle/>
          <a:p>
            <a:pPr algn="l"/>
            <a:r>
              <a:rPr sz="1600" b="0">
                <a:solidFill>
                  <a:srgbClr val="F0EDE8"/>
                </a:solidFill>
                <a:latin typeface="Aptos"/>
              </a:rPr>
              <a:t>Like a soundbox — but at ₹98.
Telugu voice plays every payment.
Driver hears it instantly.</a:t>
            </a:r>
          </a:p>
        </p:txBody>
      </p:sp>
      <p:sp>
        <p:nvSpPr>
          <p:cNvPr id="11" name="Rounded Rectangle 10"/>
          <p:cNvSpPr/>
          <p:nvPr/>
        </p:nvSpPr>
        <p:spPr>
          <a:xfrm>
            <a:off x="7955279" y="2286000"/>
            <a:ext cx="3383280" cy="2743200"/>
          </a:xfrm>
          <a:prstGeom prst="roundRect">
            <a:avLst/>
          </a:prstGeom>
          <a:solidFill>
            <a:srgbClr val="111111"/>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19" y="2514600"/>
            <a:ext cx="2788920" cy="502920"/>
          </a:xfrm>
          <a:prstGeom prst="rect">
            <a:avLst/>
          </a:prstGeom>
          <a:noFill/>
        </p:spPr>
        <p:txBody>
          <a:bodyPr wrap="square" anchor="t">
            <a:spAutoFit/>
          </a:bodyPr>
          <a:lstStyle/>
          <a:p>
            <a:pPr algn="l"/>
            <a:r>
              <a:rPr sz="1600" b="1">
                <a:solidFill>
                  <a:srgbClr val="39D353"/>
                </a:solidFill>
                <a:latin typeface="Aptos"/>
              </a:rPr>
              <a:t>USP 3 — Two-Layer Security</a:t>
            </a:r>
          </a:p>
        </p:txBody>
      </p:sp>
      <p:sp>
        <p:nvSpPr>
          <p:cNvPr id="13" name="TextBox 12"/>
          <p:cNvSpPr txBox="1"/>
          <p:nvPr/>
        </p:nvSpPr>
        <p:spPr>
          <a:xfrm>
            <a:off x="8275319" y="3063240"/>
            <a:ext cx="2788920" cy="1828800"/>
          </a:xfrm>
          <a:prstGeom prst="rect">
            <a:avLst/>
          </a:prstGeom>
          <a:noFill/>
        </p:spPr>
        <p:txBody>
          <a:bodyPr wrap="square" anchor="t">
            <a:spAutoFit/>
          </a:bodyPr>
          <a:lstStyle/>
          <a:p>
            <a:pPr algn="l"/>
            <a:r>
              <a:rPr sz="1600" b="0">
                <a:solidFill>
                  <a:srgbClr val="F0EDE8"/>
                </a:solidFill>
                <a:latin typeface="Aptos"/>
              </a:rPr>
              <a:t>Device stores zero sensitive data.
UPI ID lives only in secure cloud.
KYC verified merchants (Razorpay).</a:t>
            </a:r>
          </a:p>
        </p:txBody>
      </p:sp>
      <p:sp>
        <p:nvSpPr>
          <p:cNvPr id="14" name="TextBox 13"/>
          <p:cNvSpPr txBox="1"/>
          <p:nvPr/>
        </p:nvSpPr>
        <p:spPr>
          <a:xfrm>
            <a:off x="640080" y="6400800"/>
            <a:ext cx="10972800" cy="411480"/>
          </a:xfrm>
          <a:prstGeom prst="rect">
            <a:avLst/>
          </a:prstGeom>
          <a:noFill/>
        </p:spPr>
        <p:txBody>
          <a:bodyPr wrap="square" anchor="t">
            <a:spAutoFit/>
          </a:bodyPr>
          <a:lstStyle/>
          <a:p>
            <a:pPr algn="l"/>
            <a:r>
              <a:rPr sz="1400" b="1">
                <a:solidFill>
                  <a:srgbClr val="39D353"/>
                </a:solidFill>
                <a:latin typeface="Aptos"/>
              </a:rPr>
              <a:t>Built for auto drivers, street vendors, kirana shops — the real India.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pic>
        <p:nvPicPr>
          <p:cNvPr id="2" name="Picture 1" descr="sparoo_mark.png"/>
          <p:cNvPicPr>
            <a:picLocks noChangeAspect="1"/>
          </p:cNvPicPr>
          <p:nvPr/>
        </p:nvPicPr>
        <p:blipFill>
          <a:blip r:embed="rId2"/>
          <a:stretch>
            <a:fillRect/>
          </a:stretch>
        </p:blipFill>
        <p:spPr>
          <a:xfrm>
            <a:off x="411480" y="256032"/>
            <a:ext cx="307163" cy="384048"/>
          </a:xfrm>
          <a:prstGeom prst="rect">
            <a:avLst/>
          </a:prstGeom>
        </p:spPr>
      </p:pic>
      <p:sp>
        <p:nvSpPr>
          <p:cNvPr id="3" name="TextBox 2"/>
          <p:cNvSpPr txBox="1"/>
          <p:nvPr/>
        </p:nvSpPr>
        <p:spPr>
          <a:xfrm>
            <a:off x="11795760" y="6446520"/>
            <a:ext cx="548640" cy="274320"/>
          </a:xfrm>
          <a:prstGeom prst="rect">
            <a:avLst/>
          </a:prstGeom>
          <a:noFill/>
        </p:spPr>
        <p:txBody>
          <a:bodyPr wrap="square" anchor="t">
            <a:spAutoFit/>
          </a:bodyPr>
          <a:lstStyle/>
          <a:p>
            <a:pPr algn="r"/>
            <a:r>
              <a:rPr sz="1200" b="1">
                <a:solidFill>
                  <a:srgbClr val="AAAAAA"/>
                </a:solidFill>
                <a:latin typeface="Aptos"/>
              </a:rPr>
              <a:t>05</a:t>
            </a:r>
          </a:p>
        </p:txBody>
      </p:sp>
      <p:sp>
        <p:nvSpPr>
          <p:cNvPr id="4" name="TextBox 3"/>
          <p:cNvSpPr txBox="1"/>
          <p:nvPr/>
        </p:nvSpPr>
        <p:spPr>
          <a:xfrm>
            <a:off x="640080" y="822960"/>
            <a:ext cx="11521440" cy="822960"/>
          </a:xfrm>
          <a:prstGeom prst="rect">
            <a:avLst/>
          </a:prstGeom>
          <a:noFill/>
        </p:spPr>
        <p:txBody>
          <a:bodyPr wrap="square" anchor="t">
            <a:spAutoFit/>
          </a:bodyPr>
          <a:lstStyle/>
          <a:p>
            <a:pPr algn="l"/>
            <a:r>
              <a:rPr sz="4400" b="1">
                <a:solidFill>
                  <a:srgbClr val="F0EDE8"/>
                </a:solidFill>
                <a:latin typeface="Aptos"/>
              </a:rPr>
              <a:t>Every alternative fails India’s informal economy.</a:t>
            </a:r>
          </a:p>
        </p:txBody>
      </p:sp>
      <p:sp>
        <p:nvSpPr>
          <p:cNvPr id="5" name="Rounded Rectangle 4"/>
          <p:cNvSpPr/>
          <p:nvPr/>
        </p:nvSpPr>
        <p:spPr>
          <a:xfrm>
            <a:off x="640080" y="2103120"/>
            <a:ext cx="7406640" cy="3291840"/>
          </a:xfrm>
          <a:prstGeom prst="roundRect">
            <a:avLst/>
          </a:prstGeom>
          <a:solidFill>
            <a:srgbClr val="111111"/>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240280"/>
            <a:ext cx="2743200" cy="320040"/>
          </a:xfrm>
          <a:prstGeom prst="rect">
            <a:avLst/>
          </a:prstGeom>
          <a:noFill/>
        </p:spPr>
        <p:txBody>
          <a:bodyPr wrap="square" anchor="t">
            <a:spAutoFit/>
          </a:bodyPr>
          <a:lstStyle/>
          <a:p>
            <a:pPr algn="l"/>
            <a:r>
              <a:rPr sz="1400" b="1">
                <a:solidFill>
                  <a:srgbClr val="E8F55A"/>
                </a:solidFill>
                <a:latin typeface="Aptos"/>
              </a:rPr>
              <a:t>Feature</a:t>
            </a:r>
          </a:p>
        </p:txBody>
      </p:sp>
      <p:sp>
        <p:nvSpPr>
          <p:cNvPr id="7" name="TextBox 6"/>
          <p:cNvSpPr txBox="1"/>
          <p:nvPr/>
        </p:nvSpPr>
        <p:spPr>
          <a:xfrm>
            <a:off x="3749039" y="2240280"/>
            <a:ext cx="1280160" cy="320040"/>
          </a:xfrm>
          <a:prstGeom prst="rect">
            <a:avLst/>
          </a:prstGeom>
          <a:noFill/>
        </p:spPr>
        <p:txBody>
          <a:bodyPr wrap="square" anchor="t">
            <a:spAutoFit/>
          </a:bodyPr>
          <a:lstStyle/>
          <a:p>
            <a:pPr algn="ctr"/>
            <a:r>
              <a:rPr sz="1400" b="1">
                <a:solidFill>
                  <a:srgbClr val="F0EDE8"/>
                </a:solidFill>
                <a:latin typeface="Aptos"/>
              </a:rPr>
              <a:t>QR Code</a:t>
            </a:r>
          </a:p>
        </p:txBody>
      </p:sp>
      <p:sp>
        <p:nvSpPr>
          <p:cNvPr id="8" name="TextBox 7"/>
          <p:cNvSpPr txBox="1"/>
          <p:nvPr/>
        </p:nvSpPr>
        <p:spPr>
          <a:xfrm>
            <a:off x="5212080" y="2240280"/>
            <a:ext cx="1280160" cy="320040"/>
          </a:xfrm>
          <a:prstGeom prst="rect">
            <a:avLst/>
          </a:prstGeom>
          <a:noFill/>
        </p:spPr>
        <p:txBody>
          <a:bodyPr wrap="square" anchor="t">
            <a:spAutoFit/>
          </a:bodyPr>
          <a:lstStyle/>
          <a:p>
            <a:pPr algn="ctr"/>
            <a:r>
              <a:rPr sz="1400" b="1">
                <a:solidFill>
                  <a:srgbClr val="F0EDE8"/>
                </a:solidFill>
                <a:latin typeface="Aptos"/>
              </a:rPr>
              <a:t>ToneTag</a:t>
            </a:r>
          </a:p>
        </p:txBody>
      </p:sp>
      <p:sp>
        <p:nvSpPr>
          <p:cNvPr id="9" name="TextBox 8"/>
          <p:cNvSpPr txBox="1"/>
          <p:nvPr/>
        </p:nvSpPr>
        <p:spPr>
          <a:xfrm>
            <a:off x="6629400" y="2240280"/>
            <a:ext cx="1463040" cy="320040"/>
          </a:xfrm>
          <a:prstGeom prst="rect">
            <a:avLst/>
          </a:prstGeom>
          <a:noFill/>
        </p:spPr>
        <p:txBody>
          <a:bodyPr wrap="square" anchor="t">
            <a:spAutoFit/>
          </a:bodyPr>
          <a:lstStyle/>
          <a:p>
            <a:pPr algn="ctr"/>
            <a:r>
              <a:rPr sz="1400" b="1">
                <a:solidFill>
                  <a:srgbClr val="39D353"/>
                </a:solidFill>
                <a:latin typeface="Aptos"/>
              </a:rPr>
              <a:t>SPAROO</a:t>
            </a:r>
          </a:p>
        </p:txBody>
      </p:sp>
      <p:sp>
        <p:nvSpPr>
          <p:cNvPr id="10" name="TextBox 9"/>
          <p:cNvSpPr txBox="1"/>
          <p:nvPr/>
        </p:nvSpPr>
        <p:spPr>
          <a:xfrm>
            <a:off x="914400" y="2606040"/>
            <a:ext cx="2743200" cy="320040"/>
          </a:xfrm>
          <a:prstGeom prst="rect">
            <a:avLst/>
          </a:prstGeom>
          <a:noFill/>
        </p:spPr>
        <p:txBody>
          <a:bodyPr wrap="square" anchor="t">
            <a:spAutoFit/>
          </a:bodyPr>
          <a:lstStyle/>
          <a:p>
            <a:pPr algn="l"/>
            <a:r>
              <a:rPr sz="1400" b="0">
                <a:solidFill>
                  <a:srgbClr val="D0D0D0"/>
                </a:solidFill>
                <a:latin typeface="Aptos"/>
              </a:rPr>
              <a:t>Auto-detect</a:t>
            </a:r>
          </a:p>
        </p:txBody>
      </p:sp>
      <p:sp>
        <p:nvSpPr>
          <p:cNvPr id="11" name="TextBox 10"/>
          <p:cNvSpPr txBox="1"/>
          <p:nvPr/>
        </p:nvSpPr>
        <p:spPr>
          <a:xfrm>
            <a:off x="3749039" y="2606040"/>
            <a:ext cx="1280160" cy="320040"/>
          </a:xfrm>
          <a:prstGeom prst="rect">
            <a:avLst/>
          </a:prstGeom>
          <a:noFill/>
        </p:spPr>
        <p:txBody>
          <a:bodyPr wrap="square" anchor="t">
            <a:spAutoFit/>
          </a:bodyPr>
          <a:lstStyle/>
          <a:p>
            <a:pPr algn="ctr"/>
            <a:r>
              <a:rPr sz="1400" b="1">
                <a:solidFill>
                  <a:srgbClr val="F0EDE8"/>
                </a:solidFill>
                <a:latin typeface="Aptos"/>
              </a:rPr>
              <a:t>❌</a:t>
            </a:r>
          </a:p>
        </p:txBody>
      </p:sp>
      <p:sp>
        <p:nvSpPr>
          <p:cNvPr id="12" name="TextBox 11"/>
          <p:cNvSpPr txBox="1"/>
          <p:nvPr/>
        </p:nvSpPr>
        <p:spPr>
          <a:xfrm>
            <a:off x="5212080" y="2606040"/>
            <a:ext cx="1280160" cy="320040"/>
          </a:xfrm>
          <a:prstGeom prst="rect">
            <a:avLst/>
          </a:prstGeom>
          <a:noFill/>
        </p:spPr>
        <p:txBody>
          <a:bodyPr wrap="square" anchor="t">
            <a:spAutoFit/>
          </a:bodyPr>
          <a:lstStyle/>
          <a:p>
            <a:pPr algn="ctr"/>
            <a:r>
              <a:rPr sz="1400" b="1">
                <a:solidFill>
                  <a:srgbClr val="F0EDE8"/>
                </a:solidFill>
                <a:latin typeface="Aptos"/>
              </a:rPr>
              <a:t>❌</a:t>
            </a:r>
          </a:p>
        </p:txBody>
      </p:sp>
      <p:sp>
        <p:nvSpPr>
          <p:cNvPr id="13" name="TextBox 12"/>
          <p:cNvSpPr txBox="1"/>
          <p:nvPr/>
        </p:nvSpPr>
        <p:spPr>
          <a:xfrm>
            <a:off x="6629400" y="2606040"/>
            <a:ext cx="1463040" cy="320040"/>
          </a:xfrm>
          <a:prstGeom prst="rect">
            <a:avLst/>
          </a:prstGeom>
          <a:noFill/>
        </p:spPr>
        <p:txBody>
          <a:bodyPr wrap="square" anchor="t">
            <a:spAutoFit/>
          </a:bodyPr>
          <a:lstStyle/>
          <a:p>
            <a:pPr algn="ctr"/>
            <a:r>
              <a:rPr sz="1400" b="1">
                <a:solidFill>
                  <a:srgbClr val="39D353"/>
                </a:solidFill>
                <a:latin typeface="Aptos"/>
              </a:rPr>
              <a:t>✅</a:t>
            </a:r>
          </a:p>
        </p:txBody>
      </p:sp>
      <p:sp>
        <p:nvSpPr>
          <p:cNvPr id="14" name="TextBox 13"/>
          <p:cNvSpPr txBox="1"/>
          <p:nvPr/>
        </p:nvSpPr>
        <p:spPr>
          <a:xfrm>
            <a:off x="914400" y="3017520"/>
            <a:ext cx="2743200" cy="320040"/>
          </a:xfrm>
          <a:prstGeom prst="rect">
            <a:avLst/>
          </a:prstGeom>
          <a:noFill/>
        </p:spPr>
        <p:txBody>
          <a:bodyPr wrap="square" anchor="t">
            <a:spAutoFit/>
          </a:bodyPr>
          <a:lstStyle/>
          <a:p>
            <a:pPr algn="l"/>
            <a:r>
              <a:rPr sz="1400" b="0">
                <a:solidFill>
                  <a:srgbClr val="D0D0D0"/>
                </a:solidFill>
                <a:latin typeface="Aptos"/>
              </a:rPr>
              <a:t>Works for autos</a:t>
            </a:r>
          </a:p>
        </p:txBody>
      </p:sp>
      <p:sp>
        <p:nvSpPr>
          <p:cNvPr id="15" name="TextBox 14"/>
          <p:cNvSpPr txBox="1"/>
          <p:nvPr/>
        </p:nvSpPr>
        <p:spPr>
          <a:xfrm>
            <a:off x="3749039" y="3017520"/>
            <a:ext cx="1280160" cy="320040"/>
          </a:xfrm>
          <a:prstGeom prst="rect">
            <a:avLst/>
          </a:prstGeom>
          <a:noFill/>
        </p:spPr>
        <p:txBody>
          <a:bodyPr wrap="square" anchor="t">
            <a:spAutoFit/>
          </a:bodyPr>
          <a:lstStyle/>
          <a:p>
            <a:pPr algn="ctr"/>
            <a:r>
              <a:rPr sz="1400" b="1">
                <a:solidFill>
                  <a:srgbClr val="F0EDE8"/>
                </a:solidFill>
                <a:latin typeface="Aptos"/>
              </a:rPr>
              <a:t>⚠️</a:t>
            </a:r>
          </a:p>
        </p:txBody>
      </p:sp>
      <p:sp>
        <p:nvSpPr>
          <p:cNvPr id="16" name="TextBox 15"/>
          <p:cNvSpPr txBox="1"/>
          <p:nvPr/>
        </p:nvSpPr>
        <p:spPr>
          <a:xfrm>
            <a:off x="5212080" y="3017520"/>
            <a:ext cx="1280160" cy="320040"/>
          </a:xfrm>
          <a:prstGeom prst="rect">
            <a:avLst/>
          </a:prstGeom>
          <a:noFill/>
        </p:spPr>
        <p:txBody>
          <a:bodyPr wrap="square" anchor="t">
            <a:spAutoFit/>
          </a:bodyPr>
          <a:lstStyle/>
          <a:p>
            <a:pPr algn="ctr"/>
            <a:r>
              <a:rPr sz="1400" b="1">
                <a:solidFill>
                  <a:srgbClr val="F0EDE8"/>
                </a:solidFill>
                <a:latin typeface="Aptos"/>
              </a:rPr>
              <a:t>❌</a:t>
            </a:r>
          </a:p>
        </p:txBody>
      </p:sp>
      <p:sp>
        <p:nvSpPr>
          <p:cNvPr id="17" name="TextBox 16"/>
          <p:cNvSpPr txBox="1"/>
          <p:nvPr/>
        </p:nvSpPr>
        <p:spPr>
          <a:xfrm>
            <a:off x="6629400" y="3017520"/>
            <a:ext cx="1463040" cy="320040"/>
          </a:xfrm>
          <a:prstGeom prst="rect">
            <a:avLst/>
          </a:prstGeom>
          <a:noFill/>
        </p:spPr>
        <p:txBody>
          <a:bodyPr wrap="square" anchor="t">
            <a:spAutoFit/>
          </a:bodyPr>
          <a:lstStyle/>
          <a:p>
            <a:pPr algn="ctr"/>
            <a:r>
              <a:rPr sz="1400" b="1">
                <a:solidFill>
                  <a:srgbClr val="39D353"/>
                </a:solidFill>
                <a:latin typeface="Aptos"/>
              </a:rPr>
              <a:t>✅</a:t>
            </a:r>
          </a:p>
        </p:txBody>
      </p:sp>
      <p:sp>
        <p:nvSpPr>
          <p:cNvPr id="18" name="TextBox 17"/>
          <p:cNvSpPr txBox="1"/>
          <p:nvPr/>
        </p:nvSpPr>
        <p:spPr>
          <a:xfrm>
            <a:off x="914400" y="3429000"/>
            <a:ext cx="2743200" cy="320040"/>
          </a:xfrm>
          <a:prstGeom prst="rect">
            <a:avLst/>
          </a:prstGeom>
          <a:noFill/>
        </p:spPr>
        <p:txBody>
          <a:bodyPr wrap="square" anchor="t">
            <a:spAutoFit/>
          </a:bodyPr>
          <a:lstStyle/>
          <a:p>
            <a:pPr algn="l"/>
            <a:r>
              <a:rPr sz="1400" b="0">
                <a:solidFill>
                  <a:srgbClr val="D0D0D0"/>
                </a:solidFill>
                <a:latin typeface="Aptos"/>
              </a:rPr>
              <a:t>Device cost</a:t>
            </a:r>
          </a:p>
        </p:txBody>
      </p:sp>
      <p:sp>
        <p:nvSpPr>
          <p:cNvPr id="19" name="TextBox 18"/>
          <p:cNvSpPr txBox="1"/>
          <p:nvPr/>
        </p:nvSpPr>
        <p:spPr>
          <a:xfrm>
            <a:off x="3749039" y="3429000"/>
            <a:ext cx="1280160" cy="320040"/>
          </a:xfrm>
          <a:prstGeom prst="rect">
            <a:avLst/>
          </a:prstGeom>
          <a:noFill/>
        </p:spPr>
        <p:txBody>
          <a:bodyPr wrap="square" anchor="t">
            <a:spAutoFit/>
          </a:bodyPr>
          <a:lstStyle/>
          <a:p>
            <a:pPr algn="ctr"/>
            <a:r>
              <a:rPr sz="1400" b="1">
                <a:solidFill>
                  <a:srgbClr val="F0EDE8"/>
                </a:solidFill>
                <a:latin typeface="Aptos"/>
              </a:rPr>
              <a:t>₹20</a:t>
            </a:r>
          </a:p>
        </p:txBody>
      </p:sp>
      <p:sp>
        <p:nvSpPr>
          <p:cNvPr id="20" name="TextBox 19"/>
          <p:cNvSpPr txBox="1"/>
          <p:nvPr/>
        </p:nvSpPr>
        <p:spPr>
          <a:xfrm>
            <a:off x="5212080" y="3429000"/>
            <a:ext cx="1280160" cy="320040"/>
          </a:xfrm>
          <a:prstGeom prst="rect">
            <a:avLst/>
          </a:prstGeom>
          <a:noFill/>
        </p:spPr>
        <p:txBody>
          <a:bodyPr wrap="square" anchor="t">
            <a:spAutoFit/>
          </a:bodyPr>
          <a:lstStyle/>
          <a:p>
            <a:pPr algn="ctr"/>
            <a:r>
              <a:rPr sz="1400" b="1">
                <a:solidFill>
                  <a:srgbClr val="F0EDE8"/>
                </a:solidFill>
                <a:latin typeface="Aptos"/>
              </a:rPr>
              <a:t>₹500+</a:t>
            </a:r>
          </a:p>
        </p:txBody>
      </p:sp>
      <p:sp>
        <p:nvSpPr>
          <p:cNvPr id="21" name="TextBox 20"/>
          <p:cNvSpPr txBox="1"/>
          <p:nvPr/>
        </p:nvSpPr>
        <p:spPr>
          <a:xfrm>
            <a:off x="6629400" y="3429000"/>
            <a:ext cx="1463040" cy="320040"/>
          </a:xfrm>
          <a:prstGeom prst="rect">
            <a:avLst/>
          </a:prstGeom>
          <a:noFill/>
        </p:spPr>
        <p:txBody>
          <a:bodyPr wrap="square" anchor="t">
            <a:spAutoFit/>
          </a:bodyPr>
          <a:lstStyle/>
          <a:p>
            <a:pPr algn="ctr"/>
            <a:r>
              <a:rPr sz="1400" b="1">
                <a:solidFill>
                  <a:srgbClr val="39D353"/>
                </a:solidFill>
                <a:latin typeface="Aptos"/>
              </a:rPr>
              <a:t>₹98</a:t>
            </a:r>
          </a:p>
        </p:txBody>
      </p:sp>
      <p:sp>
        <p:nvSpPr>
          <p:cNvPr id="22" name="TextBox 21"/>
          <p:cNvSpPr txBox="1"/>
          <p:nvPr/>
        </p:nvSpPr>
        <p:spPr>
          <a:xfrm>
            <a:off x="914400" y="3840480"/>
            <a:ext cx="2743200" cy="320040"/>
          </a:xfrm>
          <a:prstGeom prst="rect">
            <a:avLst/>
          </a:prstGeom>
          <a:noFill/>
        </p:spPr>
        <p:txBody>
          <a:bodyPr wrap="square" anchor="t">
            <a:spAutoFit/>
          </a:bodyPr>
          <a:lstStyle/>
          <a:p>
            <a:pPr algn="l"/>
            <a:r>
              <a:rPr sz="1400" b="0">
                <a:solidFill>
                  <a:srgbClr val="D0D0D0"/>
                </a:solidFill>
                <a:latin typeface="Aptos"/>
              </a:rPr>
              <a:t>Offline capable</a:t>
            </a:r>
          </a:p>
        </p:txBody>
      </p:sp>
      <p:sp>
        <p:nvSpPr>
          <p:cNvPr id="23" name="TextBox 22"/>
          <p:cNvSpPr txBox="1"/>
          <p:nvPr/>
        </p:nvSpPr>
        <p:spPr>
          <a:xfrm>
            <a:off x="3749039" y="3840480"/>
            <a:ext cx="1280160" cy="320040"/>
          </a:xfrm>
          <a:prstGeom prst="rect">
            <a:avLst/>
          </a:prstGeom>
          <a:noFill/>
        </p:spPr>
        <p:txBody>
          <a:bodyPr wrap="square" anchor="t">
            <a:spAutoFit/>
          </a:bodyPr>
          <a:lstStyle/>
          <a:p>
            <a:pPr algn="ctr"/>
            <a:r>
              <a:rPr sz="1400" b="1">
                <a:solidFill>
                  <a:srgbClr val="F0EDE8"/>
                </a:solidFill>
                <a:latin typeface="Aptos"/>
              </a:rPr>
              <a:t>✅</a:t>
            </a:r>
          </a:p>
        </p:txBody>
      </p:sp>
      <p:sp>
        <p:nvSpPr>
          <p:cNvPr id="24" name="TextBox 23"/>
          <p:cNvSpPr txBox="1"/>
          <p:nvPr/>
        </p:nvSpPr>
        <p:spPr>
          <a:xfrm>
            <a:off x="5212080" y="3840480"/>
            <a:ext cx="1280160" cy="320040"/>
          </a:xfrm>
          <a:prstGeom prst="rect">
            <a:avLst/>
          </a:prstGeom>
          <a:noFill/>
        </p:spPr>
        <p:txBody>
          <a:bodyPr wrap="square" anchor="t">
            <a:spAutoFit/>
          </a:bodyPr>
          <a:lstStyle/>
          <a:p>
            <a:pPr algn="ctr"/>
            <a:r>
              <a:rPr sz="1400" b="1">
                <a:solidFill>
                  <a:srgbClr val="F0EDE8"/>
                </a:solidFill>
                <a:latin typeface="Aptos"/>
              </a:rPr>
              <a:t>❌</a:t>
            </a:r>
          </a:p>
        </p:txBody>
      </p:sp>
      <p:sp>
        <p:nvSpPr>
          <p:cNvPr id="25" name="TextBox 24"/>
          <p:cNvSpPr txBox="1"/>
          <p:nvPr/>
        </p:nvSpPr>
        <p:spPr>
          <a:xfrm>
            <a:off x="6629400" y="3840480"/>
            <a:ext cx="1463040" cy="320040"/>
          </a:xfrm>
          <a:prstGeom prst="rect">
            <a:avLst/>
          </a:prstGeom>
          <a:noFill/>
        </p:spPr>
        <p:txBody>
          <a:bodyPr wrap="square" anchor="t">
            <a:spAutoFit/>
          </a:bodyPr>
          <a:lstStyle/>
          <a:p>
            <a:pPr algn="ctr"/>
            <a:r>
              <a:rPr sz="1400" b="1">
                <a:solidFill>
                  <a:srgbClr val="39D353"/>
                </a:solidFill>
                <a:latin typeface="Aptos"/>
              </a:rPr>
              <a:t>✅</a:t>
            </a:r>
          </a:p>
        </p:txBody>
      </p:sp>
      <p:sp>
        <p:nvSpPr>
          <p:cNvPr id="26" name="TextBox 25"/>
          <p:cNvSpPr txBox="1"/>
          <p:nvPr/>
        </p:nvSpPr>
        <p:spPr>
          <a:xfrm>
            <a:off x="914400" y="4251960"/>
            <a:ext cx="2743200" cy="320040"/>
          </a:xfrm>
          <a:prstGeom prst="rect">
            <a:avLst/>
          </a:prstGeom>
          <a:noFill/>
        </p:spPr>
        <p:txBody>
          <a:bodyPr wrap="square" anchor="t">
            <a:spAutoFit/>
          </a:bodyPr>
          <a:lstStyle/>
          <a:p>
            <a:pPr algn="l"/>
            <a:r>
              <a:rPr sz="1400" b="0">
                <a:solidFill>
                  <a:srgbClr val="D0D0D0"/>
                </a:solidFill>
                <a:latin typeface="Aptos"/>
              </a:rPr>
              <a:t>Voice confirm</a:t>
            </a:r>
          </a:p>
        </p:txBody>
      </p:sp>
      <p:sp>
        <p:nvSpPr>
          <p:cNvPr id="27" name="TextBox 26"/>
          <p:cNvSpPr txBox="1"/>
          <p:nvPr/>
        </p:nvSpPr>
        <p:spPr>
          <a:xfrm>
            <a:off x="3749039" y="4251960"/>
            <a:ext cx="1280160" cy="320040"/>
          </a:xfrm>
          <a:prstGeom prst="rect">
            <a:avLst/>
          </a:prstGeom>
          <a:noFill/>
        </p:spPr>
        <p:txBody>
          <a:bodyPr wrap="square" anchor="t">
            <a:spAutoFit/>
          </a:bodyPr>
          <a:lstStyle/>
          <a:p>
            <a:pPr algn="ctr"/>
            <a:r>
              <a:rPr sz="1400" b="1">
                <a:solidFill>
                  <a:srgbClr val="F0EDE8"/>
                </a:solidFill>
                <a:latin typeface="Aptos"/>
              </a:rPr>
              <a:t>❌</a:t>
            </a:r>
          </a:p>
        </p:txBody>
      </p:sp>
      <p:sp>
        <p:nvSpPr>
          <p:cNvPr id="28" name="TextBox 27"/>
          <p:cNvSpPr txBox="1"/>
          <p:nvPr/>
        </p:nvSpPr>
        <p:spPr>
          <a:xfrm>
            <a:off x="5212080" y="4251960"/>
            <a:ext cx="1280160" cy="320040"/>
          </a:xfrm>
          <a:prstGeom prst="rect">
            <a:avLst/>
          </a:prstGeom>
          <a:noFill/>
        </p:spPr>
        <p:txBody>
          <a:bodyPr wrap="square" anchor="t">
            <a:spAutoFit/>
          </a:bodyPr>
          <a:lstStyle/>
          <a:p>
            <a:pPr algn="ctr"/>
            <a:r>
              <a:rPr sz="1400" b="1">
                <a:solidFill>
                  <a:srgbClr val="F0EDE8"/>
                </a:solidFill>
                <a:latin typeface="Aptos"/>
              </a:rPr>
              <a:t>❌</a:t>
            </a:r>
          </a:p>
        </p:txBody>
      </p:sp>
      <p:sp>
        <p:nvSpPr>
          <p:cNvPr id="29" name="TextBox 28"/>
          <p:cNvSpPr txBox="1"/>
          <p:nvPr/>
        </p:nvSpPr>
        <p:spPr>
          <a:xfrm>
            <a:off x="6629400" y="4251960"/>
            <a:ext cx="1463040" cy="320040"/>
          </a:xfrm>
          <a:prstGeom prst="rect">
            <a:avLst/>
          </a:prstGeom>
          <a:noFill/>
        </p:spPr>
        <p:txBody>
          <a:bodyPr wrap="square" anchor="t">
            <a:spAutoFit/>
          </a:bodyPr>
          <a:lstStyle/>
          <a:p>
            <a:pPr algn="ctr"/>
            <a:r>
              <a:rPr sz="1400" b="1">
                <a:solidFill>
                  <a:srgbClr val="39D353"/>
                </a:solidFill>
                <a:latin typeface="Aptos"/>
              </a:rPr>
              <a:t>✅</a:t>
            </a:r>
          </a:p>
        </p:txBody>
      </p:sp>
      <p:sp>
        <p:nvSpPr>
          <p:cNvPr id="30" name="TextBox 29"/>
          <p:cNvSpPr txBox="1"/>
          <p:nvPr/>
        </p:nvSpPr>
        <p:spPr>
          <a:xfrm>
            <a:off x="914400" y="4663440"/>
            <a:ext cx="2743200" cy="320040"/>
          </a:xfrm>
          <a:prstGeom prst="rect">
            <a:avLst/>
          </a:prstGeom>
          <a:noFill/>
        </p:spPr>
        <p:txBody>
          <a:bodyPr wrap="square" anchor="t">
            <a:spAutoFit/>
          </a:bodyPr>
          <a:lstStyle/>
          <a:p>
            <a:pPr algn="l"/>
            <a:r>
              <a:rPr sz="1400" b="0">
                <a:solidFill>
                  <a:srgbClr val="D0D0D0"/>
                </a:solidFill>
                <a:latin typeface="Aptos"/>
              </a:rPr>
              <a:t>Merchant verified</a:t>
            </a:r>
          </a:p>
        </p:txBody>
      </p:sp>
      <p:sp>
        <p:nvSpPr>
          <p:cNvPr id="31" name="TextBox 30"/>
          <p:cNvSpPr txBox="1"/>
          <p:nvPr/>
        </p:nvSpPr>
        <p:spPr>
          <a:xfrm>
            <a:off x="3749039" y="4663440"/>
            <a:ext cx="1280160" cy="320040"/>
          </a:xfrm>
          <a:prstGeom prst="rect">
            <a:avLst/>
          </a:prstGeom>
          <a:noFill/>
        </p:spPr>
        <p:txBody>
          <a:bodyPr wrap="square" anchor="t">
            <a:spAutoFit/>
          </a:bodyPr>
          <a:lstStyle/>
          <a:p>
            <a:pPr algn="ctr"/>
            <a:r>
              <a:rPr sz="1400" b="1">
                <a:solidFill>
                  <a:srgbClr val="F0EDE8"/>
                </a:solidFill>
                <a:latin typeface="Aptos"/>
              </a:rPr>
              <a:t>❌</a:t>
            </a:r>
          </a:p>
        </p:txBody>
      </p:sp>
      <p:sp>
        <p:nvSpPr>
          <p:cNvPr id="32" name="TextBox 31"/>
          <p:cNvSpPr txBox="1"/>
          <p:nvPr/>
        </p:nvSpPr>
        <p:spPr>
          <a:xfrm>
            <a:off x="5212080" y="4663440"/>
            <a:ext cx="1280160" cy="320040"/>
          </a:xfrm>
          <a:prstGeom prst="rect">
            <a:avLst/>
          </a:prstGeom>
          <a:noFill/>
        </p:spPr>
        <p:txBody>
          <a:bodyPr wrap="square" anchor="t">
            <a:spAutoFit/>
          </a:bodyPr>
          <a:lstStyle/>
          <a:p>
            <a:pPr algn="ctr"/>
            <a:r>
              <a:rPr sz="1400" b="1">
                <a:solidFill>
                  <a:srgbClr val="F0EDE8"/>
                </a:solidFill>
                <a:latin typeface="Aptos"/>
              </a:rPr>
              <a:t>⚠️</a:t>
            </a:r>
          </a:p>
        </p:txBody>
      </p:sp>
      <p:sp>
        <p:nvSpPr>
          <p:cNvPr id="33" name="TextBox 32"/>
          <p:cNvSpPr txBox="1"/>
          <p:nvPr/>
        </p:nvSpPr>
        <p:spPr>
          <a:xfrm>
            <a:off x="6629400" y="4663440"/>
            <a:ext cx="1463040" cy="320040"/>
          </a:xfrm>
          <a:prstGeom prst="rect">
            <a:avLst/>
          </a:prstGeom>
          <a:noFill/>
        </p:spPr>
        <p:txBody>
          <a:bodyPr wrap="square" anchor="t">
            <a:spAutoFit/>
          </a:bodyPr>
          <a:lstStyle/>
          <a:p>
            <a:pPr algn="ctr"/>
            <a:r>
              <a:rPr sz="1400" b="1">
                <a:solidFill>
                  <a:srgbClr val="39D353"/>
                </a:solidFill>
                <a:latin typeface="Aptos"/>
              </a:rPr>
              <a:t>✅</a:t>
            </a:r>
          </a:p>
        </p:txBody>
      </p:sp>
      <p:sp>
        <p:nvSpPr>
          <p:cNvPr id="34" name="Rounded Rectangle 33"/>
          <p:cNvSpPr/>
          <p:nvPr/>
        </p:nvSpPr>
        <p:spPr>
          <a:xfrm>
            <a:off x="8321040" y="2103120"/>
            <a:ext cx="3200400" cy="3291840"/>
          </a:xfrm>
          <a:prstGeom prst="roundRect">
            <a:avLst/>
          </a:prstGeom>
          <a:solidFill>
            <a:srgbClr val="111111"/>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41080" y="2331720"/>
            <a:ext cx="2651760" cy="548640"/>
          </a:xfrm>
          <a:prstGeom prst="rect">
            <a:avLst/>
          </a:prstGeom>
          <a:noFill/>
        </p:spPr>
        <p:txBody>
          <a:bodyPr wrap="square" anchor="t">
            <a:spAutoFit/>
          </a:bodyPr>
          <a:lstStyle/>
          <a:p>
            <a:pPr algn="l"/>
            <a:r>
              <a:rPr sz="1600" b="1">
                <a:solidFill>
                  <a:srgbClr val="E8F55A"/>
                </a:solidFill>
                <a:latin typeface="Aptos"/>
              </a:rPr>
              <a:t>Barrier to entry</a:t>
            </a:r>
          </a:p>
        </p:txBody>
      </p:sp>
      <p:sp>
        <p:nvSpPr>
          <p:cNvPr id="36" name="TextBox 35"/>
          <p:cNvSpPr txBox="1"/>
          <p:nvPr/>
        </p:nvSpPr>
        <p:spPr>
          <a:xfrm>
            <a:off x="8641080" y="2834640"/>
            <a:ext cx="2651760" cy="2468880"/>
          </a:xfrm>
          <a:prstGeom prst="rect">
            <a:avLst/>
          </a:prstGeom>
          <a:noFill/>
        </p:spPr>
        <p:txBody>
          <a:bodyPr wrap="square" anchor="t">
            <a:spAutoFit/>
          </a:bodyPr>
          <a:lstStyle/>
          <a:p>
            <a:pPr algn="l"/>
            <a:r>
              <a:rPr sz="1400" b="0">
                <a:solidFill>
                  <a:srgbClr val="F0EDE8"/>
                </a:solidFill>
                <a:latin typeface="Aptos"/>
              </a:rPr>
              <a:t>ToneTag raised ~$78M.
That validates the market.
But they target enterprise.
We own the informal segment.
Hardware + software +
merchant network + KYC
= ~18 months to copy.
By then: 10,000 drivers.</a:t>
            </a:r>
          </a:p>
        </p:txBody>
      </p:sp>
      <p:sp>
        <p:nvSpPr>
          <p:cNvPr id="37" name="TextBox 36"/>
          <p:cNvSpPr txBox="1"/>
          <p:nvPr/>
        </p:nvSpPr>
        <p:spPr>
          <a:xfrm>
            <a:off x="640080" y="6400800"/>
            <a:ext cx="10972800" cy="411480"/>
          </a:xfrm>
          <a:prstGeom prst="rect">
            <a:avLst/>
          </a:prstGeom>
          <a:noFill/>
        </p:spPr>
        <p:txBody>
          <a:bodyPr wrap="square" anchor="t">
            <a:spAutoFit/>
          </a:bodyPr>
          <a:lstStyle/>
          <a:p>
            <a:pPr algn="l"/>
            <a:r>
              <a:rPr sz="1400" b="1">
                <a:solidFill>
                  <a:srgbClr val="39D353"/>
                </a:solidFill>
                <a:latin typeface="Aptos"/>
              </a:rPr>
              <a:t>SPAROO wins where QR and enterprise NFC can’t: fast discovery in the real world.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pic>
        <p:nvPicPr>
          <p:cNvPr id="2" name="Picture 1" descr="sparoo_mark.png"/>
          <p:cNvPicPr>
            <a:picLocks noChangeAspect="1"/>
          </p:cNvPicPr>
          <p:nvPr/>
        </p:nvPicPr>
        <p:blipFill>
          <a:blip r:embed="rId2"/>
          <a:stretch>
            <a:fillRect/>
          </a:stretch>
        </p:blipFill>
        <p:spPr>
          <a:xfrm>
            <a:off x="411480" y="256032"/>
            <a:ext cx="307163" cy="384048"/>
          </a:xfrm>
          <a:prstGeom prst="rect">
            <a:avLst/>
          </a:prstGeom>
        </p:spPr>
      </p:pic>
      <p:sp>
        <p:nvSpPr>
          <p:cNvPr id="3" name="TextBox 2"/>
          <p:cNvSpPr txBox="1"/>
          <p:nvPr/>
        </p:nvSpPr>
        <p:spPr>
          <a:xfrm>
            <a:off x="11795760" y="6446520"/>
            <a:ext cx="548640" cy="274320"/>
          </a:xfrm>
          <a:prstGeom prst="rect">
            <a:avLst/>
          </a:prstGeom>
          <a:noFill/>
        </p:spPr>
        <p:txBody>
          <a:bodyPr wrap="square" anchor="t">
            <a:spAutoFit/>
          </a:bodyPr>
          <a:lstStyle/>
          <a:p>
            <a:pPr algn="r"/>
            <a:r>
              <a:rPr sz="1200" b="1">
                <a:solidFill>
                  <a:srgbClr val="AAAAAA"/>
                </a:solidFill>
                <a:latin typeface="Aptos"/>
              </a:rPr>
              <a:t>06</a:t>
            </a:r>
          </a:p>
        </p:txBody>
      </p:sp>
      <p:sp>
        <p:nvSpPr>
          <p:cNvPr id="4" name="TextBox 3"/>
          <p:cNvSpPr txBox="1"/>
          <p:nvPr/>
        </p:nvSpPr>
        <p:spPr>
          <a:xfrm>
            <a:off x="640080" y="822960"/>
            <a:ext cx="11521440" cy="822960"/>
          </a:xfrm>
          <a:prstGeom prst="rect">
            <a:avLst/>
          </a:prstGeom>
          <a:noFill/>
        </p:spPr>
        <p:txBody>
          <a:bodyPr wrap="square" anchor="t">
            <a:spAutoFit/>
          </a:bodyPr>
          <a:lstStyle/>
          <a:p>
            <a:pPr algn="l"/>
            <a:r>
              <a:rPr sz="4400" b="1">
                <a:solidFill>
                  <a:srgbClr val="F0EDE8"/>
                </a:solidFill>
                <a:latin typeface="Aptos"/>
              </a:rPr>
              <a:t>Three streams. All growing together.</a:t>
            </a:r>
          </a:p>
        </p:txBody>
      </p:sp>
      <p:sp>
        <p:nvSpPr>
          <p:cNvPr id="5" name="Rounded Rectangle 4"/>
          <p:cNvSpPr/>
          <p:nvPr/>
        </p:nvSpPr>
        <p:spPr>
          <a:xfrm>
            <a:off x="640080" y="2148840"/>
            <a:ext cx="10972800" cy="2377440"/>
          </a:xfrm>
          <a:prstGeom prst="roundRect">
            <a:avLst/>
          </a:prstGeom>
          <a:solidFill>
            <a:srgbClr val="111111"/>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377440"/>
            <a:ext cx="3383280" cy="2011680"/>
          </a:xfrm>
          <a:prstGeom prst="rect">
            <a:avLst/>
          </a:prstGeom>
          <a:noFill/>
        </p:spPr>
        <p:txBody>
          <a:bodyPr wrap="square" anchor="t">
            <a:spAutoFit/>
          </a:bodyPr>
          <a:lstStyle/>
          <a:p>
            <a:pPr algn="l"/>
            <a:r>
              <a:rPr sz="1800" b="1">
                <a:solidFill>
                  <a:srgbClr val="F0EDE8"/>
                </a:solidFill>
                <a:latin typeface="Aptos"/>
              </a:rPr>
              <a:t>1) Device Sale
₹200–300 price
₹98 cost at scale
~3× margin</a:t>
            </a:r>
          </a:p>
        </p:txBody>
      </p:sp>
      <p:sp>
        <p:nvSpPr>
          <p:cNvPr id="7" name="TextBox 6"/>
          <p:cNvSpPr txBox="1"/>
          <p:nvPr/>
        </p:nvSpPr>
        <p:spPr>
          <a:xfrm>
            <a:off x="4572000" y="2377440"/>
            <a:ext cx="3383280" cy="2011680"/>
          </a:xfrm>
          <a:prstGeom prst="rect">
            <a:avLst/>
          </a:prstGeom>
          <a:noFill/>
        </p:spPr>
        <p:txBody>
          <a:bodyPr wrap="square" anchor="t">
            <a:spAutoFit/>
          </a:bodyPr>
          <a:lstStyle/>
          <a:p>
            <a:pPr algn="l"/>
            <a:r>
              <a:rPr sz="1800" b="1">
                <a:solidFill>
                  <a:srgbClr val="F0EDE8"/>
                </a:solidFill>
                <a:latin typeface="Aptos"/>
              </a:rPr>
              <a:t>2) Transaction Fee
0.3% per payment
10L tx/month → ₹3L/month
Scales automatically</a:t>
            </a:r>
          </a:p>
        </p:txBody>
      </p:sp>
      <p:sp>
        <p:nvSpPr>
          <p:cNvPr id="8" name="TextBox 7"/>
          <p:cNvSpPr txBox="1"/>
          <p:nvPr/>
        </p:nvSpPr>
        <p:spPr>
          <a:xfrm>
            <a:off x="8138160" y="2377440"/>
            <a:ext cx="3291840" cy="2011680"/>
          </a:xfrm>
          <a:prstGeom prst="rect">
            <a:avLst/>
          </a:prstGeom>
          <a:noFill/>
        </p:spPr>
        <p:txBody>
          <a:bodyPr wrap="square" anchor="t">
            <a:spAutoFit/>
          </a:bodyPr>
          <a:lstStyle/>
          <a:p>
            <a:pPr algn="l"/>
            <a:r>
              <a:rPr sz="1800" b="1">
                <a:solidFill>
                  <a:srgbClr val="F0EDE8"/>
                </a:solidFill>
                <a:latin typeface="Aptos"/>
              </a:rPr>
              <a:t>3) B2B SaaS
₹50/driver/month
10k drivers → ₹5L/month
~86% margin</a:t>
            </a:r>
          </a:p>
        </p:txBody>
      </p:sp>
      <p:sp>
        <p:nvSpPr>
          <p:cNvPr id="9" name="Rounded Rectangle 8"/>
          <p:cNvSpPr/>
          <p:nvPr/>
        </p:nvSpPr>
        <p:spPr>
          <a:xfrm>
            <a:off x="640080" y="4800600"/>
            <a:ext cx="5669280" cy="1325880"/>
          </a:xfrm>
          <a:prstGeom prst="roundRect">
            <a:avLst/>
          </a:prstGeom>
          <a:solidFill>
            <a:srgbClr val="111111"/>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983480"/>
            <a:ext cx="5120640" cy="914400"/>
          </a:xfrm>
          <a:prstGeom prst="rect">
            <a:avLst/>
          </a:prstGeom>
          <a:noFill/>
        </p:spPr>
        <p:txBody>
          <a:bodyPr wrap="square" anchor="t">
            <a:spAutoFit/>
          </a:bodyPr>
          <a:lstStyle/>
          <a:p>
            <a:pPr algn="l"/>
            <a:r>
              <a:rPr sz="1800" b="1">
                <a:solidFill>
                  <a:srgbClr val="39D353"/>
                </a:solidFill>
                <a:latin typeface="Aptos"/>
              </a:rPr>
              <a:t>3-year projection
Year 1: ₹30L (pilot)
Year 2: ₹1.5Cr (3 cities)
Year 3: ₹8Cr (national)</a:t>
            </a:r>
          </a:p>
        </p:txBody>
      </p:sp>
      <p:sp>
        <p:nvSpPr>
          <p:cNvPr id="11" name="Rounded Rectangle 10"/>
          <p:cNvSpPr/>
          <p:nvPr/>
        </p:nvSpPr>
        <p:spPr>
          <a:xfrm>
            <a:off x="6537960" y="4800600"/>
            <a:ext cx="5074920" cy="1325880"/>
          </a:xfrm>
          <a:prstGeom prst="roundRect">
            <a:avLst/>
          </a:prstGeom>
          <a:solidFill>
            <a:srgbClr val="111111"/>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4983480"/>
            <a:ext cx="4480560" cy="914400"/>
          </a:xfrm>
          <a:prstGeom prst="rect">
            <a:avLst/>
          </a:prstGeom>
          <a:noFill/>
        </p:spPr>
        <p:txBody>
          <a:bodyPr wrap="square" anchor="t">
            <a:spAutoFit/>
          </a:bodyPr>
          <a:lstStyle/>
          <a:p>
            <a:pPr algn="l"/>
            <a:r>
              <a:rPr sz="1600" b="0">
                <a:solidFill>
                  <a:srgbClr val="F0EDE8"/>
                </a:solidFill>
                <a:latin typeface="Aptos"/>
              </a:rPr>
              <a:t>Top cash burn
1) Device manufacturing
2) App development
3) Merchant acquisition
4) Operations</a:t>
            </a:r>
          </a:p>
        </p:txBody>
      </p:sp>
      <p:sp>
        <p:nvSpPr>
          <p:cNvPr id="13" name="TextBox 12"/>
          <p:cNvSpPr txBox="1"/>
          <p:nvPr/>
        </p:nvSpPr>
        <p:spPr>
          <a:xfrm>
            <a:off x="640080" y="6400800"/>
            <a:ext cx="10972800" cy="411480"/>
          </a:xfrm>
          <a:prstGeom prst="rect">
            <a:avLst/>
          </a:prstGeom>
          <a:noFill/>
        </p:spPr>
        <p:txBody>
          <a:bodyPr wrap="square" anchor="t">
            <a:spAutoFit/>
          </a:bodyPr>
          <a:lstStyle/>
          <a:p>
            <a:pPr algn="l"/>
            <a:r>
              <a:rPr sz="1400" b="1">
                <a:solidFill>
                  <a:srgbClr val="39D353"/>
                </a:solidFill>
                <a:latin typeface="Aptos"/>
              </a:rPr>
              <a:t>Hardware starts revenue. Software makes it compounding.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pic>
        <p:nvPicPr>
          <p:cNvPr id="2" name="Picture 1" descr="sparoo_mark.png"/>
          <p:cNvPicPr>
            <a:picLocks noChangeAspect="1"/>
          </p:cNvPicPr>
          <p:nvPr/>
        </p:nvPicPr>
        <p:blipFill>
          <a:blip r:embed="rId2"/>
          <a:stretch>
            <a:fillRect/>
          </a:stretch>
        </p:blipFill>
        <p:spPr>
          <a:xfrm>
            <a:off x="411480" y="256032"/>
            <a:ext cx="307163" cy="384048"/>
          </a:xfrm>
          <a:prstGeom prst="rect">
            <a:avLst/>
          </a:prstGeom>
        </p:spPr>
      </p:pic>
      <p:sp>
        <p:nvSpPr>
          <p:cNvPr id="3" name="TextBox 2"/>
          <p:cNvSpPr txBox="1"/>
          <p:nvPr/>
        </p:nvSpPr>
        <p:spPr>
          <a:xfrm>
            <a:off x="11795760" y="6446520"/>
            <a:ext cx="548640" cy="274320"/>
          </a:xfrm>
          <a:prstGeom prst="rect">
            <a:avLst/>
          </a:prstGeom>
          <a:noFill/>
        </p:spPr>
        <p:txBody>
          <a:bodyPr wrap="square" anchor="t">
            <a:spAutoFit/>
          </a:bodyPr>
          <a:lstStyle/>
          <a:p>
            <a:pPr algn="r"/>
            <a:r>
              <a:rPr sz="1200" b="1">
                <a:solidFill>
                  <a:srgbClr val="AAAAAA"/>
                </a:solidFill>
                <a:latin typeface="Aptos"/>
              </a:rPr>
              <a:t>07</a:t>
            </a:r>
          </a:p>
        </p:txBody>
      </p:sp>
      <p:sp>
        <p:nvSpPr>
          <p:cNvPr id="4" name="TextBox 3"/>
          <p:cNvSpPr txBox="1"/>
          <p:nvPr/>
        </p:nvSpPr>
        <p:spPr>
          <a:xfrm>
            <a:off x="640080" y="822960"/>
            <a:ext cx="11521440" cy="822960"/>
          </a:xfrm>
          <a:prstGeom prst="rect">
            <a:avLst/>
          </a:prstGeom>
          <a:noFill/>
        </p:spPr>
        <p:txBody>
          <a:bodyPr wrap="square" anchor="t">
            <a:spAutoFit/>
          </a:bodyPr>
          <a:lstStyle/>
          <a:p>
            <a:pPr algn="l"/>
            <a:r>
              <a:rPr sz="4400" b="1">
                <a:solidFill>
                  <a:srgbClr val="F0EDE8"/>
                </a:solidFill>
                <a:latin typeface="Aptos"/>
              </a:rPr>
              <a:t>India’s micro-businesses.
Completely underserved.</a:t>
            </a:r>
          </a:p>
        </p:txBody>
      </p:sp>
      <p:sp>
        <p:nvSpPr>
          <p:cNvPr id="5" name="TextBox 4"/>
          <p:cNvSpPr txBox="1"/>
          <p:nvPr/>
        </p:nvSpPr>
        <p:spPr>
          <a:xfrm>
            <a:off x="822960" y="2148840"/>
            <a:ext cx="3657600" cy="731520"/>
          </a:xfrm>
          <a:prstGeom prst="rect">
            <a:avLst/>
          </a:prstGeom>
          <a:noFill/>
        </p:spPr>
        <p:txBody>
          <a:bodyPr wrap="square" anchor="t">
            <a:spAutoFit/>
          </a:bodyPr>
          <a:lstStyle/>
          <a:p>
            <a:pPr algn="l"/>
            <a:r>
              <a:rPr sz="6400" b="1">
                <a:solidFill>
                  <a:srgbClr val="F0EDE8"/>
                </a:solidFill>
                <a:latin typeface="Aptos"/>
              </a:rPr>
              <a:t>6.3Cr+</a:t>
            </a:r>
          </a:p>
        </p:txBody>
      </p:sp>
      <p:sp>
        <p:nvSpPr>
          <p:cNvPr id="6" name="TextBox 5"/>
          <p:cNvSpPr txBox="1"/>
          <p:nvPr/>
        </p:nvSpPr>
        <p:spPr>
          <a:xfrm>
            <a:off x="822960" y="2880360"/>
            <a:ext cx="3657600" cy="457200"/>
          </a:xfrm>
          <a:prstGeom prst="rect">
            <a:avLst/>
          </a:prstGeom>
          <a:noFill/>
        </p:spPr>
        <p:txBody>
          <a:bodyPr wrap="square" anchor="t">
            <a:spAutoFit/>
          </a:bodyPr>
          <a:lstStyle/>
          <a:p>
            <a:pPr algn="l"/>
            <a:r>
              <a:rPr sz="1600" b="0">
                <a:solidFill>
                  <a:srgbClr val="C8C8C8"/>
                </a:solidFill>
                <a:latin typeface="Aptos"/>
              </a:rPr>
              <a:t>MSMEs (majority micro)</a:t>
            </a:r>
          </a:p>
        </p:txBody>
      </p:sp>
      <p:sp>
        <p:nvSpPr>
          <p:cNvPr id="7" name="TextBox 6"/>
          <p:cNvSpPr txBox="1"/>
          <p:nvPr/>
        </p:nvSpPr>
        <p:spPr>
          <a:xfrm>
            <a:off x="822960" y="3520440"/>
            <a:ext cx="3657600" cy="731520"/>
          </a:xfrm>
          <a:prstGeom prst="rect">
            <a:avLst/>
          </a:prstGeom>
          <a:noFill/>
        </p:spPr>
        <p:txBody>
          <a:bodyPr wrap="square" anchor="t">
            <a:spAutoFit/>
          </a:bodyPr>
          <a:lstStyle/>
          <a:p>
            <a:pPr algn="l"/>
            <a:r>
              <a:rPr sz="6400" b="1">
                <a:solidFill>
                  <a:srgbClr val="F0EDE8"/>
                </a:solidFill>
                <a:latin typeface="Aptos"/>
              </a:rPr>
              <a:t>3Cr+</a:t>
            </a:r>
          </a:p>
        </p:txBody>
      </p:sp>
      <p:sp>
        <p:nvSpPr>
          <p:cNvPr id="8" name="TextBox 7"/>
          <p:cNvSpPr txBox="1"/>
          <p:nvPr/>
        </p:nvSpPr>
        <p:spPr>
          <a:xfrm>
            <a:off x="822960" y="4251960"/>
            <a:ext cx="3657600" cy="457200"/>
          </a:xfrm>
          <a:prstGeom prst="rect">
            <a:avLst/>
          </a:prstGeom>
          <a:noFill/>
        </p:spPr>
        <p:txBody>
          <a:bodyPr wrap="square" anchor="t">
            <a:spAutoFit/>
          </a:bodyPr>
          <a:lstStyle/>
          <a:p>
            <a:pPr algn="l"/>
            <a:r>
              <a:rPr sz="1600" b="0">
                <a:solidFill>
                  <a:srgbClr val="C8C8C8"/>
                </a:solidFill>
                <a:latin typeface="Aptos"/>
              </a:rPr>
              <a:t>Auto drivers (target beachhead)</a:t>
            </a:r>
          </a:p>
        </p:txBody>
      </p:sp>
      <p:sp>
        <p:nvSpPr>
          <p:cNvPr id="9" name="TextBox 8"/>
          <p:cNvSpPr txBox="1"/>
          <p:nvPr/>
        </p:nvSpPr>
        <p:spPr>
          <a:xfrm>
            <a:off x="822960" y="4892040"/>
            <a:ext cx="3657600" cy="731520"/>
          </a:xfrm>
          <a:prstGeom prst="rect">
            <a:avLst/>
          </a:prstGeom>
          <a:noFill/>
        </p:spPr>
        <p:txBody>
          <a:bodyPr wrap="square" anchor="t">
            <a:spAutoFit/>
          </a:bodyPr>
          <a:lstStyle/>
          <a:p>
            <a:pPr algn="l"/>
            <a:r>
              <a:rPr sz="6400" b="1">
                <a:solidFill>
                  <a:srgbClr val="F0EDE8"/>
                </a:solidFill>
                <a:latin typeface="Aptos"/>
              </a:rPr>
              <a:t>1.5Cr+</a:t>
            </a:r>
          </a:p>
        </p:txBody>
      </p:sp>
      <p:sp>
        <p:nvSpPr>
          <p:cNvPr id="10" name="TextBox 9"/>
          <p:cNvSpPr txBox="1"/>
          <p:nvPr/>
        </p:nvSpPr>
        <p:spPr>
          <a:xfrm>
            <a:off x="822960" y="5623560"/>
            <a:ext cx="3657600" cy="457200"/>
          </a:xfrm>
          <a:prstGeom prst="rect">
            <a:avLst/>
          </a:prstGeom>
          <a:noFill/>
        </p:spPr>
        <p:txBody>
          <a:bodyPr wrap="square" anchor="t">
            <a:spAutoFit/>
          </a:bodyPr>
          <a:lstStyle/>
          <a:p>
            <a:pPr algn="l"/>
            <a:r>
              <a:rPr sz="1600" b="0">
                <a:solidFill>
                  <a:srgbClr val="C8C8C8"/>
                </a:solidFill>
                <a:latin typeface="Aptos"/>
              </a:rPr>
              <a:t>Street vendors (next)</a:t>
            </a:r>
          </a:p>
        </p:txBody>
      </p:sp>
      <p:sp>
        <p:nvSpPr>
          <p:cNvPr id="11" name="Rounded Rectangle 10"/>
          <p:cNvSpPr/>
          <p:nvPr/>
        </p:nvSpPr>
        <p:spPr>
          <a:xfrm>
            <a:off x="5669280" y="2148840"/>
            <a:ext cx="5943600" cy="3566160"/>
          </a:xfrm>
          <a:prstGeom prst="roundRect">
            <a:avLst/>
          </a:prstGeom>
          <a:solidFill>
            <a:srgbClr val="111111"/>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89320" y="2423160"/>
            <a:ext cx="5303520" cy="411480"/>
          </a:xfrm>
          <a:prstGeom prst="rect">
            <a:avLst/>
          </a:prstGeom>
          <a:noFill/>
        </p:spPr>
        <p:txBody>
          <a:bodyPr wrap="square" anchor="t">
            <a:spAutoFit/>
          </a:bodyPr>
          <a:lstStyle/>
          <a:p>
            <a:pPr algn="l"/>
            <a:r>
              <a:rPr sz="1800" b="1">
                <a:solidFill>
                  <a:srgbClr val="E8F55A"/>
                </a:solidFill>
                <a:latin typeface="Aptos"/>
              </a:rPr>
              <a:t>Go-to-market channels</a:t>
            </a:r>
          </a:p>
        </p:txBody>
      </p:sp>
      <p:sp>
        <p:nvSpPr>
          <p:cNvPr id="13" name="TextBox 12"/>
          <p:cNvSpPr txBox="1"/>
          <p:nvPr/>
        </p:nvSpPr>
        <p:spPr>
          <a:xfrm>
            <a:off x="5989320" y="2926080"/>
            <a:ext cx="5303520" cy="2743200"/>
          </a:xfrm>
          <a:prstGeom prst="rect">
            <a:avLst/>
          </a:prstGeom>
          <a:noFill/>
        </p:spPr>
        <p:txBody>
          <a:bodyPr wrap="square" anchor="t">
            <a:spAutoFit/>
          </a:bodyPr>
          <a:lstStyle/>
          <a:p>
            <a:pPr algn="l"/>
            <a:r>
              <a:rPr sz="1800" b="0">
                <a:solidFill>
                  <a:srgbClr val="F0EDE8"/>
                </a:solidFill>
                <a:latin typeface="Aptos"/>
              </a:rPr>
              <a:t>1) Direct driver outreach (pilot)
2) Auto unions + associations
3) Fleet company B2B deals
4) Driver word-of-mouth</a:t>
            </a:r>
          </a:p>
        </p:txBody>
      </p:sp>
      <p:sp>
        <p:nvSpPr>
          <p:cNvPr id="14" name="TextBox 13"/>
          <p:cNvSpPr txBox="1"/>
          <p:nvPr/>
        </p:nvSpPr>
        <p:spPr>
          <a:xfrm>
            <a:off x="640080" y="6400800"/>
            <a:ext cx="10972800" cy="411480"/>
          </a:xfrm>
          <a:prstGeom prst="rect">
            <a:avLst/>
          </a:prstGeom>
          <a:noFill/>
        </p:spPr>
        <p:txBody>
          <a:bodyPr wrap="square" anchor="t">
            <a:spAutoFit/>
          </a:bodyPr>
          <a:lstStyle/>
          <a:p>
            <a:pPr algn="l"/>
            <a:r>
              <a:rPr sz="1400" b="1">
                <a:solidFill>
                  <a:srgbClr val="39D353"/>
                </a:solidFill>
                <a:latin typeface="Aptos"/>
              </a:rPr>
              <a:t>Start with autos. Expand to every micro-merchant who can’t rely on a QR.</a:t>
            </a:r>
          </a:p>
        </p:txBody>
      </p:sp>
      <p:sp>
        <p:nvSpPr>
          <p:cNvPr id="15" name="TextBox 14"/>
          <p:cNvSpPr txBox="1"/>
          <p:nvPr/>
        </p:nvSpPr>
        <p:spPr>
          <a:xfrm>
            <a:off x="640080" y="6080760"/>
            <a:ext cx="9601200" cy="320040"/>
          </a:xfrm>
          <a:prstGeom prst="rect">
            <a:avLst/>
          </a:prstGeom>
          <a:noFill/>
        </p:spPr>
        <p:txBody>
          <a:bodyPr wrap="square" anchor="t">
            <a:spAutoFit/>
          </a:bodyPr>
          <a:lstStyle/>
          <a:p>
            <a:pPr algn="l"/>
            <a:r>
              <a:rPr sz="1000" b="0">
                <a:solidFill>
                  <a:srgbClr val="999999"/>
                </a:solidFill>
                <a:latin typeface="Aptos"/>
              </a:rPr>
              <a:t>Sources: Ministry of MSME Annual Report / Udyam portal registrations; segmentation = internal target prioritization.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pic>
        <p:nvPicPr>
          <p:cNvPr id="2" name="Picture 1" descr="sparoo_mark.png"/>
          <p:cNvPicPr>
            <a:picLocks noChangeAspect="1"/>
          </p:cNvPicPr>
          <p:nvPr/>
        </p:nvPicPr>
        <p:blipFill>
          <a:blip r:embed="rId2"/>
          <a:stretch>
            <a:fillRect/>
          </a:stretch>
        </p:blipFill>
        <p:spPr>
          <a:xfrm>
            <a:off x="411480" y="256032"/>
            <a:ext cx="307163" cy="384048"/>
          </a:xfrm>
          <a:prstGeom prst="rect">
            <a:avLst/>
          </a:prstGeom>
        </p:spPr>
      </p:pic>
      <p:sp>
        <p:nvSpPr>
          <p:cNvPr id="3" name="TextBox 2"/>
          <p:cNvSpPr txBox="1"/>
          <p:nvPr/>
        </p:nvSpPr>
        <p:spPr>
          <a:xfrm>
            <a:off x="11795760" y="6446520"/>
            <a:ext cx="548640" cy="274320"/>
          </a:xfrm>
          <a:prstGeom prst="rect">
            <a:avLst/>
          </a:prstGeom>
          <a:noFill/>
        </p:spPr>
        <p:txBody>
          <a:bodyPr wrap="square" anchor="t">
            <a:spAutoFit/>
          </a:bodyPr>
          <a:lstStyle/>
          <a:p>
            <a:pPr algn="r"/>
            <a:r>
              <a:rPr sz="1200" b="1">
                <a:solidFill>
                  <a:srgbClr val="AAAAAA"/>
                </a:solidFill>
                <a:latin typeface="Aptos"/>
              </a:rPr>
              <a:t>08</a:t>
            </a:r>
          </a:p>
        </p:txBody>
      </p:sp>
      <p:sp>
        <p:nvSpPr>
          <p:cNvPr id="4" name="TextBox 3"/>
          <p:cNvSpPr txBox="1"/>
          <p:nvPr/>
        </p:nvSpPr>
        <p:spPr>
          <a:xfrm>
            <a:off x="640080" y="822960"/>
            <a:ext cx="11521440" cy="822960"/>
          </a:xfrm>
          <a:prstGeom prst="rect">
            <a:avLst/>
          </a:prstGeom>
          <a:noFill/>
        </p:spPr>
        <p:txBody>
          <a:bodyPr wrap="square" anchor="t">
            <a:spAutoFit/>
          </a:bodyPr>
          <a:lstStyle/>
          <a:p>
            <a:pPr algn="l"/>
            <a:r>
              <a:rPr sz="4400" b="1">
                <a:solidFill>
                  <a:srgbClr val="F0EDE8"/>
                </a:solidFill>
                <a:latin typeface="Aptos"/>
              </a:rPr>
              <a:t>Two apps. One device.
A complete payment ecosystem.</a:t>
            </a:r>
          </a:p>
        </p:txBody>
      </p:sp>
      <p:sp>
        <p:nvSpPr>
          <p:cNvPr id="5" name="Rounded Rectangle 4"/>
          <p:cNvSpPr/>
          <p:nvPr/>
        </p:nvSpPr>
        <p:spPr>
          <a:xfrm>
            <a:off x="640080" y="2057400"/>
            <a:ext cx="3566160" cy="3611880"/>
          </a:xfrm>
          <a:prstGeom prst="roundRect">
            <a:avLst/>
          </a:prstGeom>
          <a:solidFill>
            <a:srgbClr val="111111"/>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286000"/>
            <a:ext cx="2971800" cy="411480"/>
          </a:xfrm>
          <a:prstGeom prst="rect">
            <a:avLst/>
          </a:prstGeom>
          <a:noFill/>
        </p:spPr>
        <p:txBody>
          <a:bodyPr wrap="square" anchor="t">
            <a:spAutoFit/>
          </a:bodyPr>
          <a:lstStyle/>
          <a:p>
            <a:pPr algn="l"/>
            <a:r>
              <a:rPr sz="1800" b="1">
                <a:solidFill>
                  <a:srgbClr val="39D353"/>
                </a:solidFill>
                <a:latin typeface="Aptos"/>
              </a:rPr>
              <a:t>SPAROO Beacon</a:t>
            </a:r>
          </a:p>
        </p:txBody>
      </p:sp>
      <p:sp>
        <p:nvSpPr>
          <p:cNvPr id="7" name="TextBox 6"/>
          <p:cNvSpPr txBox="1"/>
          <p:nvPr/>
        </p:nvSpPr>
        <p:spPr>
          <a:xfrm>
            <a:off x="960120" y="2743200"/>
            <a:ext cx="3063240" cy="2743200"/>
          </a:xfrm>
          <a:prstGeom prst="rect">
            <a:avLst/>
          </a:prstGeom>
          <a:noFill/>
        </p:spPr>
        <p:txBody>
          <a:bodyPr wrap="square" anchor="t">
            <a:spAutoFit/>
          </a:bodyPr>
          <a:lstStyle/>
          <a:p>
            <a:pPr algn="l"/>
            <a:r>
              <a:rPr sz="1600" b="0">
                <a:solidFill>
                  <a:srgbClr val="F0EDE8"/>
                </a:solidFill>
                <a:latin typeface="Aptos"/>
              </a:rPr>
              <a:t>Small BLE device
Sits in auto
Broadcasts identity
Battery: ~12 months
Cost at scale: ₹98
Telugu voice confirm</a:t>
            </a:r>
          </a:p>
        </p:txBody>
      </p:sp>
      <p:sp>
        <p:nvSpPr>
          <p:cNvPr id="8" name="Rounded Rectangle 7"/>
          <p:cNvSpPr/>
          <p:nvPr/>
        </p:nvSpPr>
        <p:spPr>
          <a:xfrm>
            <a:off x="4480560" y="2057400"/>
            <a:ext cx="7132320" cy="3611880"/>
          </a:xfrm>
          <a:prstGeom prst="roundRect">
            <a:avLst/>
          </a:prstGeom>
          <a:solidFill>
            <a:srgbClr val="111111"/>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00600" y="2286000"/>
            <a:ext cx="3291840" cy="320040"/>
          </a:xfrm>
          <a:prstGeom prst="rect">
            <a:avLst/>
          </a:prstGeom>
          <a:noFill/>
        </p:spPr>
        <p:txBody>
          <a:bodyPr wrap="square" anchor="t">
            <a:spAutoFit/>
          </a:bodyPr>
          <a:lstStyle/>
          <a:p>
            <a:pPr algn="l"/>
            <a:r>
              <a:rPr sz="1600" b="1">
                <a:solidFill>
                  <a:srgbClr val="E8F55A"/>
                </a:solidFill>
                <a:latin typeface="Aptos"/>
              </a:rPr>
              <a:t>App 1: SPAROO (Customer)</a:t>
            </a:r>
          </a:p>
        </p:txBody>
      </p:sp>
      <p:sp>
        <p:nvSpPr>
          <p:cNvPr id="10" name="Rounded Rectangle 9"/>
          <p:cNvSpPr/>
          <p:nvPr/>
        </p:nvSpPr>
        <p:spPr>
          <a:xfrm>
            <a:off x="4800600" y="2743200"/>
            <a:ext cx="3291840" cy="457200"/>
          </a:xfrm>
          <a:prstGeom prst="roundRect">
            <a:avLst/>
          </a:prstGeom>
          <a:solidFill>
            <a:srgbClr val="111111"/>
          </a:solidFill>
          <a:ln w="12700">
            <a:solidFill>
              <a:srgbClr val="2B2B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a:solidFill>
                  <a:srgbClr val="F0EDE8"/>
                </a:solidFill>
                <a:latin typeface="Aptos"/>
              </a:rPr>
              <a:t>1. Home shows Nearby merchants</a:t>
            </a:r>
          </a:p>
        </p:txBody>
      </p:sp>
      <p:sp>
        <p:nvSpPr>
          <p:cNvPr id="11" name="Down Arrow 10"/>
          <p:cNvSpPr/>
          <p:nvPr/>
        </p:nvSpPr>
        <p:spPr>
          <a:xfrm>
            <a:off x="6336792" y="3200400"/>
            <a:ext cx="219456" cy="16459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800600" y="3364992"/>
            <a:ext cx="3291840" cy="457200"/>
          </a:xfrm>
          <a:prstGeom prst="roundRect">
            <a:avLst/>
          </a:prstGeom>
          <a:solidFill>
            <a:srgbClr val="111111"/>
          </a:solidFill>
          <a:ln w="12700">
            <a:solidFill>
              <a:srgbClr val="2B2B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a:solidFill>
                  <a:srgbClr val="F0EDE8"/>
                </a:solidFill>
                <a:latin typeface="Aptos"/>
              </a:rPr>
              <a:t>2. Start Scanning (BLE + Location)</a:t>
            </a:r>
          </a:p>
        </p:txBody>
      </p:sp>
      <p:sp>
        <p:nvSpPr>
          <p:cNvPr id="13" name="Down Arrow 12"/>
          <p:cNvSpPr/>
          <p:nvPr/>
        </p:nvSpPr>
        <p:spPr>
          <a:xfrm>
            <a:off x="6336792" y="3822192"/>
            <a:ext cx="219456" cy="16459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800600" y="3986784"/>
            <a:ext cx="3291840" cy="457200"/>
          </a:xfrm>
          <a:prstGeom prst="roundRect">
            <a:avLst/>
          </a:prstGeom>
          <a:solidFill>
            <a:srgbClr val="111111"/>
          </a:solidFill>
          <a:ln w="12700">
            <a:solidFill>
              <a:srgbClr val="2B2B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a:solidFill>
                  <a:srgbClr val="F0EDE8"/>
                </a:solidFill>
                <a:latin typeface="Aptos"/>
              </a:rPr>
              <a:t>3. Tap Pay on merchant card</a:t>
            </a:r>
          </a:p>
        </p:txBody>
      </p:sp>
      <p:sp>
        <p:nvSpPr>
          <p:cNvPr id="15" name="Down Arrow 14"/>
          <p:cNvSpPr/>
          <p:nvPr/>
        </p:nvSpPr>
        <p:spPr>
          <a:xfrm>
            <a:off x="6336792" y="4443984"/>
            <a:ext cx="219456" cy="16459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4608576"/>
            <a:ext cx="3291840" cy="457200"/>
          </a:xfrm>
          <a:prstGeom prst="roundRect">
            <a:avLst/>
          </a:prstGeom>
          <a:solidFill>
            <a:srgbClr val="111111"/>
          </a:solidFill>
          <a:ln w="12700">
            <a:solidFill>
              <a:srgbClr val="2B2B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a:solidFill>
                  <a:srgbClr val="F0EDE8"/>
                </a:solidFill>
                <a:latin typeface="Aptos"/>
              </a:rPr>
              <a:t>4. Enter amount</a:t>
            </a:r>
          </a:p>
        </p:txBody>
      </p:sp>
      <p:sp>
        <p:nvSpPr>
          <p:cNvPr id="17" name="Down Arrow 16"/>
          <p:cNvSpPr/>
          <p:nvPr/>
        </p:nvSpPr>
        <p:spPr>
          <a:xfrm>
            <a:off x="6336792" y="5065776"/>
            <a:ext cx="219456" cy="16459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800600" y="5230368"/>
            <a:ext cx="3291840" cy="457200"/>
          </a:xfrm>
          <a:prstGeom prst="roundRect">
            <a:avLst/>
          </a:prstGeom>
          <a:solidFill>
            <a:srgbClr val="111111"/>
          </a:solidFill>
          <a:ln w="12700">
            <a:solidFill>
              <a:srgbClr val="2B2B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a:solidFill>
                  <a:srgbClr val="F0EDE8"/>
                </a:solidFill>
                <a:latin typeface="Aptos"/>
              </a:rPr>
              <a:t>5. Razorpay checkout</a:t>
            </a:r>
          </a:p>
        </p:txBody>
      </p:sp>
      <p:sp>
        <p:nvSpPr>
          <p:cNvPr id="19" name="Down Arrow 18"/>
          <p:cNvSpPr/>
          <p:nvPr/>
        </p:nvSpPr>
        <p:spPr>
          <a:xfrm>
            <a:off x="6336792" y="5687568"/>
            <a:ext cx="219456" cy="16459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800600" y="5852160"/>
            <a:ext cx="3291840" cy="457200"/>
          </a:xfrm>
          <a:prstGeom prst="roundRect">
            <a:avLst/>
          </a:prstGeom>
          <a:solidFill>
            <a:srgbClr val="111111"/>
          </a:solidFill>
          <a:ln w="12700">
            <a:solidFill>
              <a:srgbClr val="2B2B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a:solidFill>
                  <a:srgbClr val="F0EDE8"/>
                </a:solidFill>
                <a:latin typeface="Aptos"/>
              </a:rPr>
              <a:t>6. Success → saved to history</a:t>
            </a:r>
          </a:p>
        </p:txBody>
      </p:sp>
      <p:sp>
        <p:nvSpPr>
          <p:cNvPr id="21" name="TextBox 20"/>
          <p:cNvSpPr txBox="1"/>
          <p:nvPr/>
        </p:nvSpPr>
        <p:spPr>
          <a:xfrm>
            <a:off x="8321040" y="2286000"/>
            <a:ext cx="3017520" cy="320040"/>
          </a:xfrm>
          <a:prstGeom prst="rect">
            <a:avLst/>
          </a:prstGeom>
          <a:noFill/>
        </p:spPr>
        <p:txBody>
          <a:bodyPr wrap="square" anchor="t">
            <a:spAutoFit/>
          </a:bodyPr>
          <a:lstStyle/>
          <a:p>
            <a:pPr algn="l"/>
            <a:r>
              <a:rPr sz="1600" b="1">
                <a:solidFill>
                  <a:srgbClr val="E8F55A"/>
                </a:solidFill>
                <a:latin typeface="Aptos"/>
              </a:rPr>
              <a:t>App 2: SPAROO Partner</a:t>
            </a:r>
          </a:p>
        </p:txBody>
      </p:sp>
      <p:sp>
        <p:nvSpPr>
          <p:cNvPr id="22" name="Rounded Rectangle 21"/>
          <p:cNvSpPr/>
          <p:nvPr/>
        </p:nvSpPr>
        <p:spPr>
          <a:xfrm>
            <a:off x="8321040" y="2743200"/>
            <a:ext cx="3017520" cy="457200"/>
          </a:xfrm>
          <a:prstGeom prst="roundRect">
            <a:avLst/>
          </a:prstGeom>
          <a:solidFill>
            <a:srgbClr val="111111"/>
          </a:solidFill>
          <a:ln w="12700">
            <a:solidFill>
              <a:srgbClr val="2B2B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a:solidFill>
                  <a:srgbClr val="F0EDE8"/>
                </a:solidFill>
                <a:latin typeface="Aptos"/>
              </a:rPr>
              <a:t>1. Login (Phone → OTP)</a:t>
            </a:r>
          </a:p>
        </p:txBody>
      </p:sp>
      <p:sp>
        <p:nvSpPr>
          <p:cNvPr id="23" name="Down Arrow 22"/>
          <p:cNvSpPr/>
          <p:nvPr/>
        </p:nvSpPr>
        <p:spPr>
          <a:xfrm>
            <a:off x="9720072" y="3200400"/>
            <a:ext cx="219456" cy="16459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321040" y="3364992"/>
            <a:ext cx="3017520" cy="457200"/>
          </a:xfrm>
          <a:prstGeom prst="roundRect">
            <a:avLst/>
          </a:prstGeom>
          <a:solidFill>
            <a:srgbClr val="111111"/>
          </a:solidFill>
          <a:ln w="12700">
            <a:solidFill>
              <a:srgbClr val="2B2B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a:solidFill>
                  <a:srgbClr val="F0EDE8"/>
                </a:solidFill>
                <a:latin typeface="Aptos"/>
              </a:rPr>
              <a:t>2. Onboarding (Info + Bank)</a:t>
            </a:r>
          </a:p>
        </p:txBody>
      </p:sp>
      <p:sp>
        <p:nvSpPr>
          <p:cNvPr id="25" name="Down Arrow 24"/>
          <p:cNvSpPr/>
          <p:nvPr/>
        </p:nvSpPr>
        <p:spPr>
          <a:xfrm>
            <a:off x="9720072" y="3822192"/>
            <a:ext cx="219456" cy="16459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321040" y="3986784"/>
            <a:ext cx="3017520" cy="457200"/>
          </a:xfrm>
          <a:prstGeom prst="roundRect">
            <a:avLst/>
          </a:prstGeom>
          <a:solidFill>
            <a:srgbClr val="111111"/>
          </a:solidFill>
          <a:ln w="12700">
            <a:solidFill>
              <a:srgbClr val="2B2B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a:solidFill>
                  <a:srgbClr val="F0EDE8"/>
                </a:solidFill>
                <a:latin typeface="Aptos"/>
              </a:rPr>
              <a:t>3. Link device ID</a:t>
            </a:r>
          </a:p>
        </p:txBody>
      </p:sp>
      <p:sp>
        <p:nvSpPr>
          <p:cNvPr id="27" name="Down Arrow 26"/>
          <p:cNvSpPr/>
          <p:nvPr/>
        </p:nvSpPr>
        <p:spPr>
          <a:xfrm>
            <a:off x="9720072" y="4443984"/>
            <a:ext cx="219456" cy="16459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321040" y="4608576"/>
            <a:ext cx="3017520" cy="457200"/>
          </a:xfrm>
          <a:prstGeom prst="roundRect">
            <a:avLst/>
          </a:prstGeom>
          <a:solidFill>
            <a:srgbClr val="111111"/>
          </a:solidFill>
          <a:ln w="12700">
            <a:solidFill>
              <a:srgbClr val="2B2B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a:solidFill>
                  <a:srgbClr val="F0EDE8"/>
                </a:solidFill>
                <a:latin typeface="Aptos"/>
              </a:rPr>
              <a:t>4. Razorpay KYC (Route)</a:t>
            </a:r>
          </a:p>
        </p:txBody>
      </p:sp>
      <p:sp>
        <p:nvSpPr>
          <p:cNvPr id="29" name="Down Arrow 28"/>
          <p:cNvSpPr/>
          <p:nvPr/>
        </p:nvSpPr>
        <p:spPr>
          <a:xfrm>
            <a:off x="9720072" y="5065776"/>
            <a:ext cx="219456" cy="16459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321040" y="5230368"/>
            <a:ext cx="3017520" cy="457200"/>
          </a:xfrm>
          <a:prstGeom prst="roundRect">
            <a:avLst/>
          </a:prstGeom>
          <a:solidFill>
            <a:srgbClr val="111111"/>
          </a:solidFill>
          <a:ln w="12700">
            <a:solidFill>
              <a:srgbClr val="2B2B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a:solidFill>
                  <a:srgbClr val="F0EDE8"/>
                </a:solidFill>
                <a:latin typeface="Aptos"/>
              </a:rPr>
              <a:t>5. Dashboard (earnings + status)</a:t>
            </a:r>
          </a:p>
        </p:txBody>
      </p:sp>
      <p:sp>
        <p:nvSpPr>
          <p:cNvPr id="31" name="Down Arrow 30"/>
          <p:cNvSpPr/>
          <p:nvPr/>
        </p:nvSpPr>
        <p:spPr>
          <a:xfrm>
            <a:off x="9720072" y="5687568"/>
            <a:ext cx="219456" cy="16459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321040" y="5852160"/>
            <a:ext cx="3017520" cy="457200"/>
          </a:xfrm>
          <a:prstGeom prst="roundRect">
            <a:avLst/>
          </a:prstGeom>
          <a:solidFill>
            <a:srgbClr val="111111"/>
          </a:solidFill>
          <a:ln w="12700">
            <a:solidFill>
              <a:srgbClr val="2B2B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a:solidFill>
                  <a:srgbClr val="F0EDE8"/>
                </a:solidFill>
                <a:latin typeface="Aptos"/>
              </a:rPr>
              <a:t>6. Transactions + payouts</a:t>
            </a:r>
          </a:p>
        </p:txBody>
      </p:sp>
      <p:sp>
        <p:nvSpPr>
          <p:cNvPr id="33" name="TextBox 32"/>
          <p:cNvSpPr txBox="1"/>
          <p:nvPr/>
        </p:nvSpPr>
        <p:spPr>
          <a:xfrm>
            <a:off x="640080" y="6400800"/>
            <a:ext cx="10972800" cy="411480"/>
          </a:xfrm>
          <a:prstGeom prst="rect">
            <a:avLst/>
          </a:prstGeom>
          <a:noFill/>
        </p:spPr>
        <p:txBody>
          <a:bodyPr wrap="square" anchor="t">
            <a:spAutoFit/>
          </a:bodyPr>
          <a:lstStyle/>
          <a:p>
            <a:pPr algn="l"/>
            <a:r>
              <a:rPr sz="1400" b="1">
                <a:solidFill>
                  <a:srgbClr val="39D353"/>
                </a:solidFill>
                <a:latin typeface="Aptos"/>
              </a:rPr>
              <a:t>One tiny beacon makes payments discoverable — apps make it scalable.</a:t>
            </a:r>
          </a:p>
        </p:txBody>
      </p:sp>
      <p:sp>
        <p:nvSpPr>
          <p:cNvPr id="34" name="TextBox 33"/>
          <p:cNvSpPr txBox="1"/>
          <p:nvPr/>
        </p:nvSpPr>
        <p:spPr>
          <a:xfrm>
            <a:off x="640080" y="6080760"/>
            <a:ext cx="9601200" cy="320040"/>
          </a:xfrm>
          <a:prstGeom prst="rect">
            <a:avLst/>
          </a:prstGeom>
          <a:noFill/>
        </p:spPr>
        <p:txBody>
          <a:bodyPr wrap="square" anchor="t">
            <a:spAutoFit/>
          </a:bodyPr>
          <a:lstStyle/>
          <a:p>
            <a:pPr algn="l"/>
            <a:r>
              <a:rPr sz="1000" b="0">
                <a:solidFill>
                  <a:srgbClr val="999999"/>
                </a:solidFill>
                <a:latin typeface="Aptos"/>
              </a:rPr>
              <a:t>Tech: Android (Kotlin) + BLE 5.0 + Supabase + Razorpay. (Implementation choice; not a market claim.)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pic>
        <p:nvPicPr>
          <p:cNvPr id="2" name="Picture 1" descr="sparoo_mark.png"/>
          <p:cNvPicPr>
            <a:picLocks noChangeAspect="1"/>
          </p:cNvPicPr>
          <p:nvPr/>
        </p:nvPicPr>
        <p:blipFill>
          <a:blip r:embed="rId2"/>
          <a:stretch>
            <a:fillRect/>
          </a:stretch>
        </p:blipFill>
        <p:spPr>
          <a:xfrm>
            <a:off x="411480" y="256032"/>
            <a:ext cx="307163" cy="384048"/>
          </a:xfrm>
          <a:prstGeom prst="rect">
            <a:avLst/>
          </a:prstGeom>
        </p:spPr>
      </p:pic>
      <p:sp>
        <p:nvSpPr>
          <p:cNvPr id="3" name="TextBox 2"/>
          <p:cNvSpPr txBox="1"/>
          <p:nvPr/>
        </p:nvSpPr>
        <p:spPr>
          <a:xfrm>
            <a:off x="11795760" y="6446520"/>
            <a:ext cx="548640" cy="274320"/>
          </a:xfrm>
          <a:prstGeom prst="rect">
            <a:avLst/>
          </a:prstGeom>
          <a:noFill/>
        </p:spPr>
        <p:txBody>
          <a:bodyPr wrap="square" anchor="t">
            <a:spAutoFit/>
          </a:bodyPr>
          <a:lstStyle/>
          <a:p>
            <a:pPr algn="r"/>
            <a:r>
              <a:rPr sz="1200" b="1">
                <a:solidFill>
                  <a:srgbClr val="AAAAAA"/>
                </a:solidFill>
                <a:latin typeface="Aptos"/>
              </a:rPr>
              <a:t>09</a:t>
            </a:r>
          </a:p>
        </p:txBody>
      </p:sp>
      <p:sp>
        <p:nvSpPr>
          <p:cNvPr id="4" name="TextBox 3"/>
          <p:cNvSpPr txBox="1"/>
          <p:nvPr/>
        </p:nvSpPr>
        <p:spPr>
          <a:xfrm>
            <a:off x="640080" y="822960"/>
            <a:ext cx="11521440" cy="822960"/>
          </a:xfrm>
          <a:prstGeom prst="rect">
            <a:avLst/>
          </a:prstGeom>
          <a:noFill/>
        </p:spPr>
        <p:txBody>
          <a:bodyPr wrap="square" anchor="t">
            <a:spAutoFit/>
          </a:bodyPr>
          <a:lstStyle/>
          <a:p>
            <a:pPr algn="l"/>
            <a:r>
              <a:rPr sz="4400" b="1">
                <a:solidFill>
                  <a:srgbClr val="F0EDE8"/>
                </a:solidFill>
                <a:latin typeface="Aptos"/>
              </a:rPr>
              <a:t>Built. Tested. Ready to scale.</a:t>
            </a:r>
          </a:p>
        </p:txBody>
      </p:sp>
      <p:sp>
        <p:nvSpPr>
          <p:cNvPr id="5" name="Rounded Rectangle 4"/>
          <p:cNvSpPr/>
          <p:nvPr/>
        </p:nvSpPr>
        <p:spPr>
          <a:xfrm>
            <a:off x="640080" y="2103120"/>
            <a:ext cx="5394960" cy="3566160"/>
          </a:xfrm>
          <a:prstGeom prst="roundRect">
            <a:avLst/>
          </a:prstGeom>
          <a:solidFill>
            <a:srgbClr val="111111"/>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331720"/>
            <a:ext cx="4846320" cy="3108960"/>
          </a:xfrm>
          <a:prstGeom prst="rect">
            <a:avLst/>
          </a:prstGeom>
          <a:noFill/>
        </p:spPr>
        <p:txBody>
          <a:bodyPr wrap="square" anchor="t">
            <a:spAutoFit/>
          </a:bodyPr>
          <a:lstStyle/>
          <a:p>
            <a:pPr algn="l"/>
            <a:r>
              <a:rPr sz="1600" b="0">
                <a:solidFill>
                  <a:srgbClr val="F0EDE8"/>
                </a:solidFill>
                <a:latin typeface="Aptos"/>
              </a:rPr>
              <a:t>✅ BLE device prototype — working
✅ Android customer app — complete
✅ Partner app — built
✅ Supabase backend — live
✅ Real UPI payments — tested
✅ Razorpay integration — complete
✅ Telugu voice on device — working
✅ Demo video — recorded
Started as RYDENT → failed → rebuilt as SPAROO</a:t>
            </a:r>
          </a:p>
        </p:txBody>
      </p:sp>
      <p:sp>
        <p:nvSpPr>
          <p:cNvPr id="7" name="Rounded Rectangle 6"/>
          <p:cNvSpPr/>
          <p:nvPr/>
        </p:nvSpPr>
        <p:spPr>
          <a:xfrm>
            <a:off x="6309360" y="2103120"/>
            <a:ext cx="5303520" cy="1691640"/>
          </a:xfrm>
          <a:prstGeom prst="roundRect">
            <a:avLst/>
          </a:prstGeom>
          <a:solidFill>
            <a:srgbClr val="111111"/>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29400" y="2331720"/>
            <a:ext cx="4754880" cy="1234440"/>
          </a:xfrm>
          <a:prstGeom prst="rect">
            <a:avLst/>
          </a:prstGeom>
          <a:noFill/>
        </p:spPr>
        <p:txBody>
          <a:bodyPr wrap="square" anchor="t">
            <a:spAutoFit/>
          </a:bodyPr>
          <a:lstStyle/>
          <a:p>
            <a:pPr algn="l"/>
            <a:r>
              <a:rPr sz="1600" b="1">
                <a:solidFill>
                  <a:srgbClr val="39D353"/>
                </a:solidFill>
                <a:latin typeface="Aptos"/>
              </a:rPr>
              <a:t>Next 12 months
M1–2: 10-driver pilot (Vizag)
M3–4: Register company + 30 devices
M5–8: Raise funding + 50+ devices
M9–12: Revenue live + Hyderabad</a:t>
            </a:r>
          </a:p>
        </p:txBody>
      </p:sp>
      <p:sp>
        <p:nvSpPr>
          <p:cNvPr id="9" name="Rounded Rectangle 8"/>
          <p:cNvSpPr/>
          <p:nvPr/>
        </p:nvSpPr>
        <p:spPr>
          <a:xfrm>
            <a:off x="6309360" y="3977639"/>
            <a:ext cx="5303520" cy="1691640"/>
          </a:xfrm>
          <a:prstGeom prst="roundRect">
            <a:avLst/>
          </a:prstGeom>
          <a:solidFill>
            <a:srgbClr val="111111"/>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29400" y="4206240"/>
            <a:ext cx="4754880" cy="1234440"/>
          </a:xfrm>
          <a:prstGeom prst="rect">
            <a:avLst/>
          </a:prstGeom>
          <a:noFill/>
        </p:spPr>
        <p:txBody>
          <a:bodyPr wrap="square" anchor="t">
            <a:spAutoFit/>
          </a:bodyPr>
          <a:lstStyle/>
          <a:p>
            <a:pPr algn="l"/>
            <a:r>
              <a:rPr sz="1600" b="0">
                <a:solidFill>
                  <a:srgbClr val="F0EDE8"/>
                </a:solidFill>
                <a:latin typeface="Aptos"/>
              </a:rPr>
              <a:t>Next 3 years
Year 2: 3 cities, 10k merchants
Year 3: National, 1L merchants, B2B SaaS</a:t>
            </a:r>
          </a:p>
        </p:txBody>
      </p:sp>
      <p:sp>
        <p:nvSpPr>
          <p:cNvPr id="11" name="TextBox 10"/>
          <p:cNvSpPr txBox="1"/>
          <p:nvPr/>
        </p:nvSpPr>
        <p:spPr>
          <a:xfrm>
            <a:off x="640080" y="6400800"/>
            <a:ext cx="10972800" cy="411480"/>
          </a:xfrm>
          <a:prstGeom prst="rect">
            <a:avLst/>
          </a:prstGeom>
          <a:noFill/>
        </p:spPr>
        <p:txBody>
          <a:bodyPr wrap="square" anchor="t">
            <a:spAutoFit/>
          </a:bodyPr>
          <a:lstStyle/>
          <a:p>
            <a:pPr algn="l"/>
            <a:r>
              <a:rPr sz="1400" b="1">
                <a:solidFill>
                  <a:srgbClr val="39D353"/>
                </a:solidFill>
                <a:latin typeface="Aptos"/>
              </a:rPr>
              <a:t>If funded today: 50 devices ordered in Week 1. First revenue in Month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pic>
        <p:nvPicPr>
          <p:cNvPr id="2" name="Picture 1" descr="sparoo_mark.png"/>
          <p:cNvPicPr>
            <a:picLocks noChangeAspect="1"/>
          </p:cNvPicPr>
          <p:nvPr/>
        </p:nvPicPr>
        <p:blipFill>
          <a:blip r:embed="rId2"/>
          <a:stretch>
            <a:fillRect/>
          </a:stretch>
        </p:blipFill>
        <p:spPr>
          <a:xfrm>
            <a:off x="411480" y="256032"/>
            <a:ext cx="307163" cy="384048"/>
          </a:xfrm>
          <a:prstGeom prst="rect">
            <a:avLst/>
          </a:prstGeom>
        </p:spPr>
      </p:pic>
      <p:sp>
        <p:nvSpPr>
          <p:cNvPr id="3" name="TextBox 2"/>
          <p:cNvSpPr txBox="1"/>
          <p:nvPr/>
        </p:nvSpPr>
        <p:spPr>
          <a:xfrm>
            <a:off x="11795760" y="6446520"/>
            <a:ext cx="548640" cy="274320"/>
          </a:xfrm>
          <a:prstGeom prst="rect">
            <a:avLst/>
          </a:prstGeom>
          <a:noFill/>
        </p:spPr>
        <p:txBody>
          <a:bodyPr wrap="square" anchor="t">
            <a:spAutoFit/>
          </a:bodyPr>
          <a:lstStyle/>
          <a:p>
            <a:pPr algn="r"/>
            <a:r>
              <a:rPr sz="1200" b="1">
                <a:solidFill>
                  <a:srgbClr val="AAAAAA"/>
                </a:solidFill>
                <a:latin typeface="Aptos"/>
              </a:rPr>
              <a:t>10</a:t>
            </a:r>
          </a:p>
        </p:txBody>
      </p:sp>
      <p:sp>
        <p:nvSpPr>
          <p:cNvPr id="4" name="TextBox 3"/>
          <p:cNvSpPr txBox="1"/>
          <p:nvPr/>
        </p:nvSpPr>
        <p:spPr>
          <a:xfrm>
            <a:off x="640080" y="822960"/>
            <a:ext cx="11521440" cy="822960"/>
          </a:xfrm>
          <a:prstGeom prst="rect">
            <a:avLst/>
          </a:prstGeom>
          <a:noFill/>
        </p:spPr>
        <p:txBody>
          <a:bodyPr wrap="square" anchor="t">
            <a:spAutoFit/>
          </a:bodyPr>
          <a:lstStyle/>
          <a:p>
            <a:pPr algn="l"/>
            <a:r>
              <a:rPr sz="4400" b="1">
                <a:solidFill>
                  <a:srgbClr val="F0EDE8"/>
                </a:solidFill>
                <a:latin typeface="Aptos"/>
              </a:rPr>
              <a:t>Zero external funding.
100% student-built.</a:t>
            </a:r>
          </a:p>
        </p:txBody>
      </p:sp>
      <p:sp>
        <p:nvSpPr>
          <p:cNvPr id="5" name="TextBox 4"/>
          <p:cNvSpPr txBox="1"/>
          <p:nvPr/>
        </p:nvSpPr>
        <p:spPr>
          <a:xfrm>
            <a:off x="822960" y="2148840"/>
            <a:ext cx="3657600" cy="731520"/>
          </a:xfrm>
          <a:prstGeom prst="rect">
            <a:avLst/>
          </a:prstGeom>
          <a:noFill/>
        </p:spPr>
        <p:txBody>
          <a:bodyPr wrap="square" anchor="t">
            <a:spAutoFit/>
          </a:bodyPr>
          <a:lstStyle/>
          <a:p>
            <a:pPr algn="l"/>
            <a:r>
              <a:rPr sz="6400" b="1">
                <a:solidFill>
                  <a:srgbClr val="F0EDE8"/>
                </a:solidFill>
                <a:latin typeface="Aptos"/>
              </a:rPr>
              <a:t>₹0</a:t>
            </a:r>
          </a:p>
        </p:txBody>
      </p:sp>
      <p:sp>
        <p:nvSpPr>
          <p:cNvPr id="6" name="TextBox 5"/>
          <p:cNvSpPr txBox="1"/>
          <p:nvPr/>
        </p:nvSpPr>
        <p:spPr>
          <a:xfrm>
            <a:off x="822960" y="2880360"/>
            <a:ext cx="3657600" cy="457200"/>
          </a:xfrm>
          <a:prstGeom prst="rect">
            <a:avLst/>
          </a:prstGeom>
          <a:noFill/>
        </p:spPr>
        <p:txBody>
          <a:bodyPr wrap="square" anchor="t">
            <a:spAutoFit/>
          </a:bodyPr>
          <a:lstStyle/>
          <a:p>
            <a:pPr algn="l"/>
            <a:r>
              <a:rPr sz="1600" b="0">
                <a:solidFill>
                  <a:srgbClr val="C8C8C8"/>
                </a:solidFill>
                <a:latin typeface="Aptos"/>
              </a:rPr>
              <a:t>Funding raised</a:t>
            </a:r>
          </a:p>
        </p:txBody>
      </p:sp>
      <p:sp>
        <p:nvSpPr>
          <p:cNvPr id="7" name="TextBox 6"/>
          <p:cNvSpPr txBox="1"/>
          <p:nvPr/>
        </p:nvSpPr>
        <p:spPr>
          <a:xfrm>
            <a:off x="822960" y="3520440"/>
            <a:ext cx="3657600" cy="731520"/>
          </a:xfrm>
          <a:prstGeom prst="rect">
            <a:avLst/>
          </a:prstGeom>
          <a:noFill/>
        </p:spPr>
        <p:txBody>
          <a:bodyPr wrap="square" anchor="t">
            <a:spAutoFit/>
          </a:bodyPr>
          <a:lstStyle/>
          <a:p>
            <a:pPr algn="l"/>
            <a:r>
              <a:rPr sz="6400" b="1">
                <a:solidFill>
                  <a:srgbClr val="F0EDE8"/>
                </a:solidFill>
                <a:latin typeface="Aptos"/>
              </a:rPr>
              <a:t>5</a:t>
            </a:r>
          </a:p>
        </p:txBody>
      </p:sp>
      <p:sp>
        <p:nvSpPr>
          <p:cNvPr id="8" name="TextBox 7"/>
          <p:cNvSpPr txBox="1"/>
          <p:nvPr/>
        </p:nvSpPr>
        <p:spPr>
          <a:xfrm>
            <a:off x="822960" y="4251960"/>
            <a:ext cx="3657600" cy="457200"/>
          </a:xfrm>
          <a:prstGeom prst="rect">
            <a:avLst/>
          </a:prstGeom>
          <a:noFill/>
        </p:spPr>
        <p:txBody>
          <a:bodyPr wrap="square" anchor="t">
            <a:spAutoFit/>
          </a:bodyPr>
          <a:lstStyle/>
          <a:p>
            <a:pPr algn="l"/>
            <a:r>
              <a:rPr sz="1600" b="0">
                <a:solidFill>
                  <a:srgbClr val="C8C8C8"/>
                </a:solidFill>
                <a:latin typeface="Aptos"/>
              </a:rPr>
              <a:t>ANITS student team</a:t>
            </a:r>
          </a:p>
        </p:txBody>
      </p:sp>
      <p:sp>
        <p:nvSpPr>
          <p:cNvPr id="9" name="TextBox 8"/>
          <p:cNvSpPr txBox="1"/>
          <p:nvPr/>
        </p:nvSpPr>
        <p:spPr>
          <a:xfrm>
            <a:off x="822960" y="4892040"/>
            <a:ext cx="3657600" cy="731520"/>
          </a:xfrm>
          <a:prstGeom prst="rect">
            <a:avLst/>
          </a:prstGeom>
          <a:noFill/>
        </p:spPr>
        <p:txBody>
          <a:bodyPr wrap="square" anchor="t">
            <a:spAutoFit/>
          </a:bodyPr>
          <a:lstStyle/>
          <a:p>
            <a:pPr algn="l"/>
            <a:r>
              <a:rPr sz="6400" b="1">
                <a:solidFill>
                  <a:srgbClr val="F0EDE8"/>
                </a:solidFill>
                <a:latin typeface="Aptos"/>
              </a:rPr>
              <a:t>6+ months</a:t>
            </a:r>
          </a:p>
        </p:txBody>
      </p:sp>
      <p:sp>
        <p:nvSpPr>
          <p:cNvPr id="10" name="TextBox 9"/>
          <p:cNvSpPr txBox="1"/>
          <p:nvPr/>
        </p:nvSpPr>
        <p:spPr>
          <a:xfrm>
            <a:off x="822960" y="5623560"/>
            <a:ext cx="3657600" cy="457200"/>
          </a:xfrm>
          <a:prstGeom prst="rect">
            <a:avLst/>
          </a:prstGeom>
          <a:noFill/>
        </p:spPr>
        <p:txBody>
          <a:bodyPr wrap="square" anchor="t">
            <a:spAutoFit/>
          </a:bodyPr>
          <a:lstStyle/>
          <a:p>
            <a:pPr algn="l"/>
            <a:r>
              <a:rPr sz="1600" b="0">
                <a:solidFill>
                  <a:srgbClr val="C8C8C8"/>
                </a:solidFill>
                <a:latin typeface="Aptos"/>
              </a:rPr>
              <a:t>Time invested</a:t>
            </a:r>
          </a:p>
        </p:txBody>
      </p:sp>
      <p:sp>
        <p:nvSpPr>
          <p:cNvPr id="11" name="Rounded Rectangle 10"/>
          <p:cNvSpPr/>
          <p:nvPr/>
        </p:nvSpPr>
        <p:spPr>
          <a:xfrm>
            <a:off x="5760720" y="2148840"/>
            <a:ext cx="5852160" cy="3566160"/>
          </a:xfrm>
          <a:prstGeom prst="roundRect">
            <a:avLst/>
          </a:prstGeom>
          <a:solidFill>
            <a:srgbClr val="111111"/>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80760" y="2423160"/>
            <a:ext cx="5212080" cy="457200"/>
          </a:xfrm>
          <a:prstGeom prst="rect">
            <a:avLst/>
          </a:prstGeom>
          <a:noFill/>
        </p:spPr>
        <p:txBody>
          <a:bodyPr wrap="square" anchor="t">
            <a:spAutoFit/>
          </a:bodyPr>
          <a:lstStyle/>
          <a:p>
            <a:pPr algn="l"/>
            <a:r>
              <a:rPr sz="2200" b="1">
                <a:solidFill>
                  <a:srgbClr val="E8F55A"/>
                </a:solidFill>
                <a:latin typeface="Aptos"/>
              </a:rPr>
              <a:t>Asking: ₹5,00,000 seed</a:t>
            </a:r>
          </a:p>
        </p:txBody>
      </p:sp>
      <p:sp>
        <p:nvSpPr>
          <p:cNvPr id="13" name="TextBox 12"/>
          <p:cNvSpPr txBox="1"/>
          <p:nvPr/>
        </p:nvSpPr>
        <p:spPr>
          <a:xfrm>
            <a:off x="6080760" y="2971800"/>
            <a:ext cx="5212080" cy="2468880"/>
          </a:xfrm>
          <a:prstGeom prst="rect">
            <a:avLst/>
          </a:prstGeom>
          <a:noFill/>
        </p:spPr>
        <p:txBody>
          <a:bodyPr wrap="square" anchor="t">
            <a:spAutoFit/>
          </a:bodyPr>
          <a:lstStyle/>
          <a:p>
            <a:pPr algn="l"/>
            <a:r>
              <a:rPr sz="1600" b="0">
                <a:solidFill>
                  <a:srgbClr val="F0EDE8"/>
                </a:solidFill>
                <a:latin typeface="Aptos"/>
              </a:rPr>
              <a:t>Use of funds
40% → 50-device pilot
25% → custom PCB manufacturing
20% → app + backend
15% → marketing + ops
Outcome
Pilot data in 60 days
Revenue in 90 days
Next round in 12 months</a:t>
            </a:r>
          </a:p>
        </p:txBody>
      </p:sp>
      <p:sp>
        <p:nvSpPr>
          <p:cNvPr id="14" name="TextBox 13"/>
          <p:cNvSpPr txBox="1"/>
          <p:nvPr/>
        </p:nvSpPr>
        <p:spPr>
          <a:xfrm>
            <a:off x="640080" y="6400800"/>
            <a:ext cx="10972800" cy="411480"/>
          </a:xfrm>
          <a:prstGeom prst="rect">
            <a:avLst/>
          </a:prstGeom>
          <a:noFill/>
        </p:spPr>
        <p:txBody>
          <a:bodyPr wrap="square" anchor="t">
            <a:spAutoFit/>
          </a:bodyPr>
          <a:lstStyle/>
          <a:p>
            <a:pPr algn="l"/>
            <a:r>
              <a:rPr sz="1400" b="1">
                <a:solidFill>
                  <a:srgbClr val="39D353"/>
                </a:solidFill>
                <a:latin typeface="Aptos"/>
              </a:rPr>
              <a:t>We don’t need money to start. We need money to scale fast and measure right.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pic>
        <p:nvPicPr>
          <p:cNvPr id="2" name="Picture 1" descr="sparoo_mark.png"/>
          <p:cNvPicPr>
            <a:picLocks noChangeAspect="1"/>
          </p:cNvPicPr>
          <p:nvPr/>
        </p:nvPicPr>
        <p:blipFill>
          <a:blip r:embed="rId2"/>
          <a:stretch>
            <a:fillRect/>
          </a:stretch>
        </p:blipFill>
        <p:spPr>
          <a:xfrm>
            <a:off x="411480" y="256032"/>
            <a:ext cx="307163" cy="384048"/>
          </a:xfrm>
          <a:prstGeom prst="rect">
            <a:avLst/>
          </a:prstGeom>
        </p:spPr>
      </p:pic>
      <p:sp>
        <p:nvSpPr>
          <p:cNvPr id="3" name="TextBox 2"/>
          <p:cNvSpPr txBox="1"/>
          <p:nvPr/>
        </p:nvSpPr>
        <p:spPr>
          <a:xfrm>
            <a:off x="11795760" y="6446520"/>
            <a:ext cx="548640" cy="274320"/>
          </a:xfrm>
          <a:prstGeom prst="rect">
            <a:avLst/>
          </a:prstGeom>
          <a:noFill/>
        </p:spPr>
        <p:txBody>
          <a:bodyPr wrap="square" anchor="t">
            <a:spAutoFit/>
          </a:bodyPr>
          <a:lstStyle/>
          <a:p>
            <a:pPr algn="r"/>
            <a:r>
              <a:rPr sz="1200" b="1">
                <a:solidFill>
                  <a:srgbClr val="AAAAAA"/>
                </a:solidFill>
                <a:latin typeface="Aptos"/>
              </a:rPr>
              <a:t>11</a:t>
            </a:r>
          </a:p>
        </p:txBody>
      </p:sp>
      <p:sp>
        <p:nvSpPr>
          <p:cNvPr id="4" name="TextBox 3"/>
          <p:cNvSpPr txBox="1"/>
          <p:nvPr/>
        </p:nvSpPr>
        <p:spPr>
          <a:xfrm>
            <a:off x="640080" y="822960"/>
            <a:ext cx="11521440" cy="822960"/>
          </a:xfrm>
          <a:prstGeom prst="rect">
            <a:avLst/>
          </a:prstGeom>
          <a:noFill/>
        </p:spPr>
        <p:txBody>
          <a:bodyPr wrap="square" anchor="t">
            <a:spAutoFit/>
          </a:bodyPr>
          <a:lstStyle/>
          <a:p>
            <a:pPr algn="l"/>
            <a:r>
              <a:rPr sz="4400" b="1">
                <a:solidFill>
                  <a:srgbClr val="F0EDE8"/>
                </a:solidFill>
                <a:latin typeface="Aptos"/>
              </a:rPr>
              <a:t>Five students. One mission.
Zero excuses.</a:t>
            </a:r>
          </a:p>
        </p:txBody>
      </p:sp>
      <p:sp>
        <p:nvSpPr>
          <p:cNvPr id="5" name="Rounded Rectangle 4"/>
          <p:cNvSpPr/>
          <p:nvPr/>
        </p:nvSpPr>
        <p:spPr>
          <a:xfrm>
            <a:off x="640080" y="2057400"/>
            <a:ext cx="3657600" cy="1554480"/>
          </a:xfrm>
          <a:prstGeom prst="roundRect">
            <a:avLst/>
          </a:prstGeom>
          <a:solidFill>
            <a:srgbClr val="111111"/>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258568"/>
            <a:ext cx="3108960" cy="320040"/>
          </a:xfrm>
          <a:prstGeom prst="rect">
            <a:avLst/>
          </a:prstGeom>
          <a:noFill/>
        </p:spPr>
        <p:txBody>
          <a:bodyPr wrap="square" anchor="t">
            <a:spAutoFit/>
          </a:bodyPr>
          <a:lstStyle/>
          <a:p>
            <a:pPr algn="l"/>
            <a:r>
              <a:rPr sz="1600" b="1">
                <a:solidFill>
                  <a:srgbClr val="39D353"/>
                </a:solidFill>
                <a:latin typeface="Aptos"/>
              </a:rPr>
              <a:t>Nithin Reddy Jeeru</a:t>
            </a:r>
          </a:p>
        </p:txBody>
      </p:sp>
      <p:sp>
        <p:nvSpPr>
          <p:cNvPr id="7" name="TextBox 6"/>
          <p:cNvSpPr txBox="1"/>
          <p:nvPr/>
        </p:nvSpPr>
        <p:spPr>
          <a:xfrm>
            <a:off x="914400" y="2560320"/>
            <a:ext cx="3108960" cy="256032"/>
          </a:xfrm>
          <a:prstGeom prst="rect">
            <a:avLst/>
          </a:prstGeom>
          <a:noFill/>
        </p:spPr>
        <p:txBody>
          <a:bodyPr wrap="square" anchor="t">
            <a:spAutoFit/>
          </a:bodyPr>
          <a:lstStyle/>
          <a:p>
            <a:pPr algn="l"/>
            <a:r>
              <a:rPr sz="1200" b="1">
                <a:solidFill>
                  <a:srgbClr val="CCCCCC"/>
                </a:solidFill>
                <a:latin typeface="Aptos"/>
              </a:rPr>
              <a:t>Founder &amp; Developer</a:t>
            </a:r>
          </a:p>
        </p:txBody>
      </p:sp>
      <p:sp>
        <p:nvSpPr>
          <p:cNvPr id="8" name="TextBox 7"/>
          <p:cNvSpPr txBox="1"/>
          <p:nvPr/>
        </p:nvSpPr>
        <p:spPr>
          <a:xfrm>
            <a:off x="914400" y="2834640"/>
            <a:ext cx="3108960" cy="640080"/>
          </a:xfrm>
          <a:prstGeom prst="rect">
            <a:avLst/>
          </a:prstGeom>
          <a:noFill/>
        </p:spPr>
        <p:txBody>
          <a:bodyPr wrap="square" anchor="t">
            <a:spAutoFit/>
          </a:bodyPr>
          <a:lstStyle/>
          <a:p>
            <a:pPr algn="l"/>
            <a:r>
              <a:rPr sz="1200" b="0">
                <a:solidFill>
                  <a:srgbClr val="F0EDE8"/>
                </a:solidFill>
                <a:latin typeface="Aptos"/>
              </a:rPr>
              <a:t>Built: Android app, BLE firmware,
backend, prototype hardware
“I saw the problem daily.
I refused to accept it.”</a:t>
            </a:r>
          </a:p>
        </p:txBody>
      </p:sp>
      <p:sp>
        <p:nvSpPr>
          <p:cNvPr id="9" name="Rounded Rectangle 8"/>
          <p:cNvSpPr/>
          <p:nvPr/>
        </p:nvSpPr>
        <p:spPr>
          <a:xfrm>
            <a:off x="4526280" y="2057400"/>
            <a:ext cx="3657600" cy="1554480"/>
          </a:xfrm>
          <a:prstGeom prst="roundRect">
            <a:avLst/>
          </a:prstGeom>
          <a:solidFill>
            <a:srgbClr val="111111"/>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00600" y="2258568"/>
            <a:ext cx="3108960" cy="320040"/>
          </a:xfrm>
          <a:prstGeom prst="rect">
            <a:avLst/>
          </a:prstGeom>
          <a:noFill/>
        </p:spPr>
        <p:txBody>
          <a:bodyPr wrap="square" anchor="t">
            <a:spAutoFit/>
          </a:bodyPr>
          <a:lstStyle/>
          <a:p>
            <a:pPr algn="l"/>
            <a:r>
              <a:rPr sz="1600" b="1">
                <a:solidFill>
                  <a:srgbClr val="39D353"/>
                </a:solidFill>
                <a:latin typeface="Aptos"/>
              </a:rPr>
              <a:t>Member 2</a:t>
            </a:r>
          </a:p>
        </p:txBody>
      </p:sp>
      <p:sp>
        <p:nvSpPr>
          <p:cNvPr id="11" name="TextBox 10"/>
          <p:cNvSpPr txBox="1"/>
          <p:nvPr/>
        </p:nvSpPr>
        <p:spPr>
          <a:xfrm>
            <a:off x="4800600" y="2560320"/>
            <a:ext cx="3108960" cy="256032"/>
          </a:xfrm>
          <a:prstGeom prst="rect">
            <a:avLst/>
          </a:prstGeom>
          <a:noFill/>
        </p:spPr>
        <p:txBody>
          <a:bodyPr wrap="square" anchor="t">
            <a:spAutoFit/>
          </a:bodyPr>
          <a:lstStyle/>
          <a:p>
            <a:pPr algn="l"/>
            <a:r>
              <a:rPr sz="1200" b="1">
                <a:solidFill>
                  <a:srgbClr val="CCCCCC"/>
                </a:solidFill>
                <a:latin typeface="Aptos"/>
              </a:rPr>
              <a:t>Hardware &amp; PCB</a:t>
            </a:r>
          </a:p>
        </p:txBody>
      </p:sp>
      <p:sp>
        <p:nvSpPr>
          <p:cNvPr id="12" name="TextBox 11"/>
          <p:cNvSpPr txBox="1"/>
          <p:nvPr/>
        </p:nvSpPr>
        <p:spPr>
          <a:xfrm>
            <a:off x="4800600" y="2834640"/>
            <a:ext cx="3108960" cy="640080"/>
          </a:xfrm>
          <a:prstGeom prst="rect">
            <a:avLst/>
          </a:prstGeom>
          <a:noFill/>
        </p:spPr>
        <p:txBody>
          <a:bodyPr wrap="square" anchor="t">
            <a:spAutoFit/>
          </a:bodyPr>
          <a:lstStyle/>
          <a:p>
            <a:pPr algn="l"/>
            <a:r>
              <a:rPr sz="1200" b="0">
                <a:solidFill>
                  <a:srgbClr val="F0EDE8"/>
                </a:solidFill>
                <a:latin typeface="Aptos"/>
              </a:rPr>
              <a:t>Device design
PCB roadmap
Manufacturing plan</a:t>
            </a:r>
          </a:p>
        </p:txBody>
      </p:sp>
      <p:sp>
        <p:nvSpPr>
          <p:cNvPr id="13" name="Rounded Rectangle 12"/>
          <p:cNvSpPr/>
          <p:nvPr/>
        </p:nvSpPr>
        <p:spPr>
          <a:xfrm>
            <a:off x="8412480" y="2057400"/>
            <a:ext cx="3657600" cy="1554480"/>
          </a:xfrm>
          <a:prstGeom prst="roundRect">
            <a:avLst/>
          </a:prstGeom>
          <a:solidFill>
            <a:srgbClr val="111111"/>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0" y="2258568"/>
            <a:ext cx="3108960" cy="320040"/>
          </a:xfrm>
          <a:prstGeom prst="rect">
            <a:avLst/>
          </a:prstGeom>
          <a:noFill/>
        </p:spPr>
        <p:txBody>
          <a:bodyPr wrap="square" anchor="t">
            <a:spAutoFit/>
          </a:bodyPr>
          <a:lstStyle/>
          <a:p>
            <a:pPr algn="l"/>
            <a:r>
              <a:rPr sz="1600" b="1">
                <a:solidFill>
                  <a:srgbClr val="39D353"/>
                </a:solidFill>
                <a:latin typeface="Aptos"/>
              </a:rPr>
              <a:t>Member 3</a:t>
            </a:r>
          </a:p>
        </p:txBody>
      </p:sp>
      <p:sp>
        <p:nvSpPr>
          <p:cNvPr id="15" name="TextBox 14"/>
          <p:cNvSpPr txBox="1"/>
          <p:nvPr/>
        </p:nvSpPr>
        <p:spPr>
          <a:xfrm>
            <a:off x="8686800" y="2560320"/>
            <a:ext cx="3108960" cy="256032"/>
          </a:xfrm>
          <a:prstGeom prst="rect">
            <a:avLst/>
          </a:prstGeom>
          <a:noFill/>
        </p:spPr>
        <p:txBody>
          <a:bodyPr wrap="square" anchor="t">
            <a:spAutoFit/>
          </a:bodyPr>
          <a:lstStyle/>
          <a:p>
            <a:pPr algn="l"/>
            <a:r>
              <a:rPr sz="1200" b="1">
                <a:solidFill>
                  <a:srgbClr val="CCCCCC"/>
                </a:solidFill>
                <a:latin typeface="Aptos"/>
              </a:rPr>
              <a:t>UI/UX Design</a:t>
            </a:r>
          </a:p>
        </p:txBody>
      </p:sp>
      <p:sp>
        <p:nvSpPr>
          <p:cNvPr id="16" name="TextBox 15"/>
          <p:cNvSpPr txBox="1"/>
          <p:nvPr/>
        </p:nvSpPr>
        <p:spPr>
          <a:xfrm>
            <a:off x="8686800" y="2834640"/>
            <a:ext cx="3108960" cy="640080"/>
          </a:xfrm>
          <a:prstGeom prst="rect">
            <a:avLst/>
          </a:prstGeom>
          <a:noFill/>
        </p:spPr>
        <p:txBody>
          <a:bodyPr wrap="square" anchor="t">
            <a:spAutoFit/>
          </a:bodyPr>
          <a:lstStyle/>
          <a:p>
            <a:pPr algn="l"/>
            <a:r>
              <a:rPr sz="1200" b="0">
                <a:solidFill>
                  <a:srgbClr val="F0EDE8"/>
                </a:solidFill>
                <a:latin typeface="Aptos"/>
              </a:rPr>
              <a:t>App design
Brand identity
SPAROO visual language</a:t>
            </a:r>
          </a:p>
        </p:txBody>
      </p:sp>
      <p:sp>
        <p:nvSpPr>
          <p:cNvPr id="17" name="Rounded Rectangle 16"/>
          <p:cNvSpPr/>
          <p:nvPr/>
        </p:nvSpPr>
        <p:spPr>
          <a:xfrm>
            <a:off x="640080" y="3840480"/>
            <a:ext cx="3657600" cy="1554480"/>
          </a:xfrm>
          <a:prstGeom prst="roundRect">
            <a:avLst/>
          </a:prstGeom>
          <a:solidFill>
            <a:srgbClr val="111111"/>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041648"/>
            <a:ext cx="3108960" cy="320040"/>
          </a:xfrm>
          <a:prstGeom prst="rect">
            <a:avLst/>
          </a:prstGeom>
          <a:noFill/>
        </p:spPr>
        <p:txBody>
          <a:bodyPr wrap="square" anchor="t">
            <a:spAutoFit/>
          </a:bodyPr>
          <a:lstStyle/>
          <a:p>
            <a:pPr algn="l"/>
            <a:r>
              <a:rPr sz="1600" b="1">
                <a:solidFill>
                  <a:srgbClr val="39D353"/>
                </a:solidFill>
                <a:latin typeface="Aptos"/>
              </a:rPr>
              <a:t>Member 4</a:t>
            </a:r>
          </a:p>
        </p:txBody>
      </p:sp>
      <p:sp>
        <p:nvSpPr>
          <p:cNvPr id="19" name="TextBox 18"/>
          <p:cNvSpPr txBox="1"/>
          <p:nvPr/>
        </p:nvSpPr>
        <p:spPr>
          <a:xfrm>
            <a:off x="914400" y="4343400"/>
            <a:ext cx="3108960" cy="256032"/>
          </a:xfrm>
          <a:prstGeom prst="rect">
            <a:avLst/>
          </a:prstGeom>
          <a:noFill/>
        </p:spPr>
        <p:txBody>
          <a:bodyPr wrap="square" anchor="t">
            <a:spAutoFit/>
          </a:bodyPr>
          <a:lstStyle/>
          <a:p>
            <a:pPr algn="l"/>
            <a:r>
              <a:rPr sz="1200" b="1">
                <a:solidFill>
                  <a:srgbClr val="CCCCCC"/>
                </a:solidFill>
                <a:latin typeface="Aptos"/>
              </a:rPr>
              <a:t>Business Development</a:t>
            </a:r>
          </a:p>
        </p:txBody>
      </p:sp>
      <p:sp>
        <p:nvSpPr>
          <p:cNvPr id="20" name="TextBox 19"/>
          <p:cNvSpPr txBox="1"/>
          <p:nvPr/>
        </p:nvSpPr>
        <p:spPr>
          <a:xfrm>
            <a:off x="914400" y="4617720"/>
            <a:ext cx="3108960" cy="640080"/>
          </a:xfrm>
          <a:prstGeom prst="rect">
            <a:avLst/>
          </a:prstGeom>
          <a:noFill/>
        </p:spPr>
        <p:txBody>
          <a:bodyPr wrap="square" anchor="t">
            <a:spAutoFit/>
          </a:bodyPr>
          <a:lstStyle/>
          <a:p>
            <a:pPr algn="l"/>
            <a:r>
              <a:rPr sz="1200" b="0">
                <a:solidFill>
                  <a:srgbClr val="F0EDE8"/>
                </a:solidFill>
                <a:latin typeface="Aptos"/>
              </a:rPr>
              <a:t>Driver outreach
Market research
Fleet partnerships</a:t>
            </a:r>
          </a:p>
        </p:txBody>
      </p:sp>
      <p:sp>
        <p:nvSpPr>
          <p:cNvPr id="21" name="Rounded Rectangle 20"/>
          <p:cNvSpPr/>
          <p:nvPr/>
        </p:nvSpPr>
        <p:spPr>
          <a:xfrm>
            <a:off x="4526280" y="3840480"/>
            <a:ext cx="3657600" cy="1554480"/>
          </a:xfrm>
          <a:prstGeom prst="roundRect">
            <a:avLst/>
          </a:prstGeom>
          <a:solidFill>
            <a:srgbClr val="111111"/>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0600" y="4041648"/>
            <a:ext cx="3108960" cy="320040"/>
          </a:xfrm>
          <a:prstGeom prst="rect">
            <a:avLst/>
          </a:prstGeom>
          <a:noFill/>
        </p:spPr>
        <p:txBody>
          <a:bodyPr wrap="square" anchor="t">
            <a:spAutoFit/>
          </a:bodyPr>
          <a:lstStyle/>
          <a:p>
            <a:pPr algn="l"/>
            <a:r>
              <a:rPr sz="1600" b="1">
                <a:solidFill>
                  <a:srgbClr val="39D353"/>
                </a:solidFill>
                <a:latin typeface="Aptos"/>
              </a:rPr>
              <a:t>Member 5</a:t>
            </a:r>
          </a:p>
        </p:txBody>
      </p:sp>
      <p:sp>
        <p:nvSpPr>
          <p:cNvPr id="23" name="TextBox 22"/>
          <p:cNvSpPr txBox="1"/>
          <p:nvPr/>
        </p:nvSpPr>
        <p:spPr>
          <a:xfrm>
            <a:off x="4800600" y="4343400"/>
            <a:ext cx="3108960" cy="256032"/>
          </a:xfrm>
          <a:prstGeom prst="rect">
            <a:avLst/>
          </a:prstGeom>
          <a:noFill/>
        </p:spPr>
        <p:txBody>
          <a:bodyPr wrap="square" anchor="t">
            <a:spAutoFit/>
          </a:bodyPr>
          <a:lstStyle/>
          <a:p>
            <a:pPr algn="l"/>
            <a:r>
              <a:rPr sz="1200" b="1">
                <a:solidFill>
                  <a:srgbClr val="CCCCCC"/>
                </a:solidFill>
                <a:latin typeface="Aptos"/>
              </a:rPr>
              <a:t>Operations &amp; Research</a:t>
            </a:r>
          </a:p>
        </p:txBody>
      </p:sp>
      <p:sp>
        <p:nvSpPr>
          <p:cNvPr id="24" name="TextBox 23"/>
          <p:cNvSpPr txBox="1"/>
          <p:nvPr/>
        </p:nvSpPr>
        <p:spPr>
          <a:xfrm>
            <a:off x="4800600" y="4617720"/>
            <a:ext cx="3108960" cy="640080"/>
          </a:xfrm>
          <a:prstGeom prst="rect">
            <a:avLst/>
          </a:prstGeom>
          <a:noFill/>
        </p:spPr>
        <p:txBody>
          <a:bodyPr wrap="square" anchor="t">
            <a:spAutoFit/>
          </a:bodyPr>
          <a:lstStyle/>
          <a:p>
            <a:pPr algn="l"/>
            <a:r>
              <a:rPr sz="1200" b="0">
                <a:solidFill>
                  <a:srgbClr val="F0EDE8"/>
                </a:solidFill>
                <a:latin typeface="Aptos"/>
              </a:rPr>
              <a:t>Pilot planning
Data collection
Expansion strategy</a:t>
            </a:r>
          </a:p>
        </p:txBody>
      </p:sp>
      <p:sp>
        <p:nvSpPr>
          <p:cNvPr id="25" name="Rounded Rectangle 24"/>
          <p:cNvSpPr/>
          <p:nvPr/>
        </p:nvSpPr>
        <p:spPr>
          <a:xfrm>
            <a:off x="640080" y="5806440"/>
            <a:ext cx="10972800" cy="502920"/>
          </a:xfrm>
          <a:prstGeom prst="roundRect">
            <a:avLst/>
          </a:prstGeom>
          <a:solidFill>
            <a:srgbClr val="0D0D0D"/>
          </a:solidFill>
          <a:ln w="1270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5925312"/>
            <a:ext cx="10424160" cy="320040"/>
          </a:xfrm>
          <a:prstGeom prst="rect">
            <a:avLst/>
          </a:prstGeom>
          <a:noFill/>
        </p:spPr>
        <p:txBody>
          <a:bodyPr wrap="square" anchor="t">
            <a:spAutoFit/>
          </a:bodyPr>
          <a:lstStyle/>
          <a:p>
            <a:pPr algn="ctr"/>
            <a:r>
              <a:rPr sz="1400" b="1">
                <a:solidFill>
                  <a:srgbClr val="E8F55A"/>
                </a:solidFill>
                <a:latin typeface="Aptos"/>
              </a:rPr>
              <a:t>We started with RYDENT — it failed. We rebuilt as SPAROO — it works. A team that learns fast is the only team worth betting on.</a:t>
            </a:r>
          </a:p>
        </p:txBody>
      </p:sp>
      <p:sp>
        <p:nvSpPr>
          <p:cNvPr id="27" name="TextBox 26"/>
          <p:cNvSpPr txBox="1"/>
          <p:nvPr/>
        </p:nvSpPr>
        <p:spPr>
          <a:xfrm>
            <a:off x="640080" y="6400800"/>
            <a:ext cx="10972800" cy="411480"/>
          </a:xfrm>
          <a:prstGeom prst="rect">
            <a:avLst/>
          </a:prstGeom>
          <a:noFill/>
        </p:spPr>
        <p:txBody>
          <a:bodyPr wrap="square" anchor="t">
            <a:spAutoFit/>
          </a:bodyPr>
          <a:lstStyle/>
          <a:p>
            <a:pPr algn="l"/>
            <a:r>
              <a:rPr sz="1400" b="1">
                <a:solidFill>
                  <a:srgbClr val="39D353"/>
                </a:solidFill>
                <a:latin typeface="Aptos"/>
              </a:rPr>
              <a:t>We are builders first — product, hardware, and field execution.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pic>
        <p:nvPicPr>
          <p:cNvPr id="2" name="Picture 1" descr="sparoo_mark.png"/>
          <p:cNvPicPr>
            <a:picLocks noChangeAspect="1"/>
          </p:cNvPicPr>
          <p:nvPr/>
        </p:nvPicPr>
        <p:blipFill>
          <a:blip r:embed="rId2"/>
          <a:stretch>
            <a:fillRect/>
          </a:stretch>
        </p:blipFill>
        <p:spPr>
          <a:xfrm>
            <a:off x="411480" y="256032"/>
            <a:ext cx="307163" cy="384048"/>
          </a:xfrm>
          <a:prstGeom prst="rect">
            <a:avLst/>
          </a:prstGeom>
        </p:spPr>
      </p:pic>
      <p:sp>
        <p:nvSpPr>
          <p:cNvPr id="3" name="TextBox 2"/>
          <p:cNvSpPr txBox="1"/>
          <p:nvPr/>
        </p:nvSpPr>
        <p:spPr>
          <a:xfrm>
            <a:off x="11795760" y="6446520"/>
            <a:ext cx="548640" cy="274320"/>
          </a:xfrm>
          <a:prstGeom prst="rect">
            <a:avLst/>
          </a:prstGeom>
          <a:noFill/>
        </p:spPr>
        <p:txBody>
          <a:bodyPr wrap="square" anchor="t">
            <a:spAutoFit/>
          </a:bodyPr>
          <a:lstStyle/>
          <a:p>
            <a:pPr algn="r"/>
            <a:r>
              <a:rPr sz="1200" b="1">
                <a:solidFill>
                  <a:srgbClr val="AAAAAA"/>
                </a:solidFill>
                <a:latin typeface="Aptos"/>
              </a:rPr>
              <a:t>12</a:t>
            </a:r>
          </a:p>
        </p:txBody>
      </p:sp>
      <p:sp>
        <p:nvSpPr>
          <p:cNvPr id="4" name="TextBox 3"/>
          <p:cNvSpPr txBox="1"/>
          <p:nvPr/>
        </p:nvSpPr>
        <p:spPr>
          <a:xfrm>
            <a:off x="640080" y="822960"/>
            <a:ext cx="11521440" cy="822960"/>
          </a:xfrm>
          <a:prstGeom prst="rect">
            <a:avLst/>
          </a:prstGeom>
          <a:noFill/>
        </p:spPr>
        <p:txBody>
          <a:bodyPr wrap="square" anchor="t">
            <a:spAutoFit/>
          </a:bodyPr>
          <a:lstStyle/>
          <a:p>
            <a:pPr algn="l"/>
            <a:r>
              <a:rPr sz="4400" b="1">
                <a:solidFill>
                  <a:srgbClr val="F0EDE8"/>
                </a:solidFill>
                <a:latin typeface="Aptos"/>
              </a:rPr>
              <a:t>As long as there is that fire —
you will find a way.</a:t>
            </a:r>
          </a:p>
        </p:txBody>
      </p:sp>
      <p:sp>
        <p:nvSpPr>
          <p:cNvPr id="5" name="TextBox 4"/>
          <p:cNvSpPr txBox="1"/>
          <p:nvPr/>
        </p:nvSpPr>
        <p:spPr>
          <a:xfrm>
            <a:off x="640080" y="2057400"/>
            <a:ext cx="11521440" cy="365760"/>
          </a:xfrm>
          <a:prstGeom prst="rect">
            <a:avLst/>
          </a:prstGeom>
          <a:noFill/>
        </p:spPr>
        <p:txBody>
          <a:bodyPr wrap="square" anchor="t">
            <a:spAutoFit/>
          </a:bodyPr>
          <a:lstStyle/>
          <a:p>
            <a:pPr algn="l"/>
            <a:r>
              <a:rPr sz="1800" b="0">
                <a:solidFill>
                  <a:srgbClr val="AAAAAA"/>
                </a:solidFill>
                <a:latin typeface="Aptos"/>
              </a:rPr>
              <a:t>— Ratan N. Tata</a:t>
            </a:r>
          </a:p>
        </p:txBody>
      </p:sp>
      <p:sp>
        <p:nvSpPr>
          <p:cNvPr id="6" name="Rounded Rectangle 5"/>
          <p:cNvSpPr/>
          <p:nvPr/>
        </p:nvSpPr>
        <p:spPr>
          <a:xfrm>
            <a:off x="640080" y="2788920"/>
            <a:ext cx="10972800" cy="2286000"/>
          </a:xfrm>
          <a:prstGeom prst="roundRect">
            <a:avLst/>
          </a:prstGeom>
          <a:solidFill>
            <a:srgbClr val="111111"/>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063240"/>
            <a:ext cx="10241280" cy="1828800"/>
          </a:xfrm>
          <a:prstGeom prst="rect">
            <a:avLst/>
          </a:prstGeom>
          <a:noFill/>
        </p:spPr>
        <p:txBody>
          <a:bodyPr wrap="square" anchor="t">
            <a:spAutoFit/>
          </a:bodyPr>
          <a:lstStyle/>
          <a:p>
            <a:pPr algn="l"/>
            <a:r>
              <a:rPr sz="2000" b="1">
                <a:solidFill>
                  <a:srgbClr val="F0EDE8"/>
                </a:solidFill>
                <a:latin typeface="Aptos"/>
              </a:rPr>
              <a:t>We found the problem.
We built the solution.
We failed once, learned, rebuilt.
640M+ transactions daily.
6+ crore micro-businesses waiting.
Zero smart discovery solutions for them.
We are not waiting for permission.
Just arrive.
SPAROO handles the rest.</a:t>
            </a:r>
          </a:p>
        </p:txBody>
      </p:sp>
      <p:sp>
        <p:nvSpPr>
          <p:cNvPr id="8" name="TextBox 7"/>
          <p:cNvSpPr txBox="1"/>
          <p:nvPr/>
        </p:nvSpPr>
        <p:spPr>
          <a:xfrm>
            <a:off x="640080" y="5623560"/>
            <a:ext cx="10972800" cy="502920"/>
          </a:xfrm>
          <a:prstGeom prst="rect">
            <a:avLst/>
          </a:prstGeom>
          <a:noFill/>
        </p:spPr>
        <p:txBody>
          <a:bodyPr wrap="square" anchor="t">
            <a:spAutoFit/>
          </a:bodyPr>
          <a:lstStyle/>
          <a:p>
            <a:pPr algn="l"/>
            <a:r>
              <a:rPr sz="1400" b="0">
                <a:solidFill>
                  <a:srgbClr val="CCCCCC"/>
                </a:solidFill>
                <a:latin typeface="Aptos"/>
              </a:rPr>
              <a:t>Contact: Nithin Reddy Jeeru • Founder, SPAROO • ANITS, Visakhapatnam • sparoo.in</a:t>
            </a:r>
          </a:p>
        </p:txBody>
      </p:sp>
      <p:sp>
        <p:nvSpPr>
          <p:cNvPr id="9" name="TextBox 8"/>
          <p:cNvSpPr txBox="1"/>
          <p:nvPr/>
        </p:nvSpPr>
        <p:spPr>
          <a:xfrm>
            <a:off x="640080" y="6080760"/>
            <a:ext cx="9601200" cy="320040"/>
          </a:xfrm>
          <a:prstGeom prst="rect">
            <a:avLst/>
          </a:prstGeom>
          <a:noFill/>
        </p:spPr>
        <p:txBody>
          <a:bodyPr wrap="square" anchor="t">
            <a:spAutoFit/>
          </a:bodyPr>
          <a:lstStyle/>
          <a:p>
            <a:pPr algn="l"/>
            <a:r>
              <a:rPr sz="1000" b="0">
                <a:solidFill>
                  <a:srgbClr val="999999"/>
                </a:solidFill>
                <a:latin typeface="Aptos"/>
              </a:rPr>
              <a:t>Sources: PIB (UPI daily volume), Economic Survey 2025–26 Table 3.6 (UPI volume/value), DFS/NPCI (Mar 2026 peak month).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